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63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2614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Coherent-Event analysis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48584" y="850855"/>
            <a:ext cx="7239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Definition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Determine overlapping spindle events between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 smtClean="0"/>
              <a:t>FRO – PAR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 smtClean="0"/>
              <a:t>FRO – CA1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 smtClean="0"/>
              <a:t>PAR – CA1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Additionally check whether these coherent events contain an offline-detected ripple event</a:t>
            </a:r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676400" y="4125622"/>
            <a:ext cx="6511184" cy="62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76400" y="4851162"/>
            <a:ext cx="651118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971800" y="3827092"/>
            <a:ext cx="1066800" cy="304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3124200" y="4546362"/>
            <a:ext cx="1066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6400" y="5571146"/>
            <a:ext cx="651118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985761" y="5266346"/>
            <a:ext cx="5715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6220200" y="3827092"/>
            <a:ext cx="1066800" cy="304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6571646" y="4546362"/>
            <a:ext cx="685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977070" y="3646411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FRO-</a:t>
            </a:r>
            <a:r>
              <a:rPr lang="en-GB" dirty="0" err="1" smtClean="0"/>
              <a:t>Spi</a:t>
            </a:r>
            <a:endParaRPr lang="en-GB" dirty="0"/>
          </a:p>
        </p:txBody>
      </p:sp>
      <p:sp>
        <p:nvSpPr>
          <p:cNvPr id="29" name="TextBox 28"/>
          <p:cNvSpPr txBox="1"/>
          <p:nvPr/>
        </p:nvSpPr>
        <p:spPr>
          <a:xfrm>
            <a:off x="977070" y="4365191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CA1-Spi</a:t>
            </a:r>
            <a:endParaRPr lang="en-GB" dirty="0"/>
          </a:p>
        </p:txBody>
      </p:sp>
      <p:sp>
        <p:nvSpPr>
          <p:cNvPr id="30" name="TextBox 29"/>
          <p:cNvSpPr txBox="1"/>
          <p:nvPr/>
        </p:nvSpPr>
        <p:spPr>
          <a:xfrm>
            <a:off x="977069" y="5085665"/>
            <a:ext cx="1359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CA1-Ripple</a:t>
            </a:r>
            <a:endParaRPr lang="en-GB" dirty="0"/>
          </a:p>
        </p:txBody>
      </p:sp>
      <p:sp>
        <p:nvSpPr>
          <p:cNvPr id="31" name="TextBox 30"/>
          <p:cNvSpPr txBox="1"/>
          <p:nvPr/>
        </p:nvSpPr>
        <p:spPr>
          <a:xfrm>
            <a:off x="2590800" y="574832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Coherent FRO-CA1</a:t>
            </a:r>
          </a:p>
          <a:p>
            <a:pPr algn="ctr"/>
            <a:r>
              <a:rPr lang="en-GB" sz="1400" dirty="0" smtClean="0"/>
              <a:t>spindle event </a:t>
            </a:r>
            <a:endParaRPr lang="en-GB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5839200" y="574832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Coherent FRO-CA1</a:t>
            </a:r>
          </a:p>
          <a:p>
            <a:pPr algn="ctr"/>
            <a:r>
              <a:rPr lang="en-GB" sz="1400" dirty="0" smtClean="0"/>
              <a:t>Spindle-ripple event </a:t>
            </a:r>
            <a:endParaRPr lang="en-GB" sz="1400" dirty="0"/>
          </a:p>
        </p:txBody>
      </p:sp>
      <p:cxnSp>
        <p:nvCxnSpPr>
          <p:cNvPr id="6" name="Gerader Verbinder 5"/>
          <p:cNvCxnSpPr/>
          <p:nvPr/>
        </p:nvCxnSpPr>
        <p:spPr>
          <a:xfrm>
            <a:off x="2772000" y="3573000"/>
            <a:ext cx="0" cy="2175320"/>
          </a:xfrm>
          <a:prstGeom prst="line">
            <a:avLst/>
          </a:prstGeom>
          <a:ln w="317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ewitterblitz 7"/>
          <p:cNvSpPr/>
          <p:nvPr/>
        </p:nvSpPr>
        <p:spPr>
          <a:xfrm>
            <a:off x="2628000" y="3113554"/>
            <a:ext cx="288000" cy="360000"/>
          </a:xfrm>
          <a:prstGeom prst="lightningBol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" name="Gerader Verbinder 19"/>
          <p:cNvCxnSpPr/>
          <p:nvPr/>
        </p:nvCxnSpPr>
        <p:spPr>
          <a:xfrm>
            <a:off x="6068891" y="3573000"/>
            <a:ext cx="0" cy="2175320"/>
          </a:xfrm>
          <a:prstGeom prst="line">
            <a:avLst/>
          </a:prstGeom>
          <a:ln w="317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ewitterblitz 20"/>
          <p:cNvSpPr/>
          <p:nvPr/>
        </p:nvSpPr>
        <p:spPr>
          <a:xfrm>
            <a:off x="5924891" y="3113554"/>
            <a:ext cx="288000" cy="360000"/>
          </a:xfrm>
          <a:prstGeom prst="lightningBol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6539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084" y="2226134"/>
            <a:ext cx="4316342" cy="2158171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99" y="2226134"/>
            <a:ext cx="2456901" cy="2158171"/>
          </a:xfrm>
          <a:prstGeom prst="rect">
            <a:avLst/>
          </a:prstGeom>
        </p:spPr>
      </p:pic>
      <p:sp>
        <p:nvSpPr>
          <p:cNvPr id="4" name="Textfeld 3"/>
          <p:cNvSpPr txBox="1"/>
          <p:nvPr/>
        </p:nvSpPr>
        <p:spPr>
          <a:xfrm>
            <a:off x="891099" y="5108671"/>
            <a:ext cx="72809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 smtClean="0"/>
              <a:t>Only</a:t>
            </a:r>
            <a:r>
              <a:rPr lang="de-DE" dirty="0" smtClean="0"/>
              <a:t> In-phase </a:t>
            </a:r>
            <a:r>
              <a:rPr lang="de-DE" dirty="0" err="1" smtClean="0"/>
              <a:t>stimulation</a:t>
            </a:r>
            <a:r>
              <a:rPr lang="de-DE" dirty="0"/>
              <a:t> </a:t>
            </a:r>
            <a:r>
              <a:rPr lang="de-DE" dirty="0" err="1" smtClean="0"/>
              <a:t>increases</a:t>
            </a:r>
            <a:r>
              <a:rPr lang="de-DE" dirty="0" smtClean="0"/>
              <a:t> </a:t>
            </a:r>
            <a:r>
              <a:rPr lang="de-DE" dirty="0" err="1" smtClean="0"/>
              <a:t>probability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/>
              <a:t> </a:t>
            </a:r>
            <a:r>
              <a:rPr lang="de-DE" dirty="0" smtClean="0"/>
              <a:t>frontal-parietal, frontal-</a:t>
            </a:r>
            <a:r>
              <a:rPr lang="de-DE" dirty="0" err="1" smtClean="0"/>
              <a:t>hippocampal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global spindle </a:t>
            </a:r>
            <a:r>
              <a:rPr lang="de-DE" dirty="0" err="1" smtClean="0"/>
              <a:t>events</a:t>
            </a:r>
            <a:endParaRPr lang="de-DE" dirty="0" smtClean="0"/>
          </a:p>
          <a:p>
            <a:endParaRPr lang="de-DE" dirty="0"/>
          </a:p>
          <a:p>
            <a:r>
              <a:rPr lang="de-DE" dirty="0" smtClean="0"/>
              <a:t>Same </a:t>
            </a:r>
            <a:r>
              <a:rPr lang="de-DE" dirty="0" err="1" smtClean="0"/>
              <a:t>holds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frontal-</a:t>
            </a:r>
            <a:r>
              <a:rPr lang="de-DE" dirty="0" err="1" smtClean="0"/>
              <a:t>hippocampal</a:t>
            </a:r>
            <a:r>
              <a:rPr lang="de-DE" dirty="0" smtClean="0"/>
              <a:t> </a:t>
            </a:r>
            <a:r>
              <a:rPr lang="de-DE" dirty="0" err="1" smtClean="0"/>
              <a:t>events</a:t>
            </a:r>
            <a:r>
              <a:rPr lang="de-DE" dirty="0" smtClean="0"/>
              <a:t> </a:t>
            </a:r>
            <a:r>
              <a:rPr lang="de-DE" dirty="0" err="1" smtClean="0"/>
              <a:t>including</a:t>
            </a:r>
            <a:r>
              <a:rPr lang="de-DE" dirty="0" smtClean="0"/>
              <a:t> </a:t>
            </a:r>
            <a:r>
              <a:rPr lang="de-DE" dirty="0" err="1" smtClean="0"/>
              <a:t>ripples</a:t>
            </a:r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490989" y="2527074"/>
            <a:ext cx="400110" cy="15840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de-DE" sz="1400" dirty="0" err="1" smtClean="0"/>
              <a:t>Incidence</a:t>
            </a:r>
            <a:r>
              <a:rPr lang="de-DE" sz="1400" dirty="0" smtClean="0"/>
              <a:t> rate (%)</a:t>
            </a:r>
            <a:endParaRPr lang="de-DE" sz="1400" dirty="0"/>
          </a:p>
        </p:txBody>
      </p:sp>
      <p:sp>
        <p:nvSpPr>
          <p:cNvPr id="6" name="TextBox 1"/>
          <p:cNvSpPr txBox="1"/>
          <p:nvPr/>
        </p:nvSpPr>
        <p:spPr>
          <a:xfrm>
            <a:off x="914400" y="909000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Slow spindles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50914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490989" y="2527074"/>
            <a:ext cx="400110" cy="15840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de-DE" sz="1400" dirty="0" err="1" smtClean="0"/>
              <a:t>Incidence</a:t>
            </a:r>
            <a:r>
              <a:rPr lang="de-DE" sz="1400" dirty="0" smtClean="0"/>
              <a:t> rate (%)</a:t>
            </a:r>
            <a:endParaRPr lang="de-DE" sz="1400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55" y="2230553"/>
            <a:ext cx="4316342" cy="2158171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99" y="2230552"/>
            <a:ext cx="2456901" cy="2158171"/>
          </a:xfrm>
          <a:prstGeom prst="rect">
            <a:avLst/>
          </a:prstGeom>
        </p:spPr>
      </p:pic>
      <p:sp>
        <p:nvSpPr>
          <p:cNvPr id="8" name="TextBox 1"/>
          <p:cNvSpPr txBox="1"/>
          <p:nvPr/>
        </p:nvSpPr>
        <p:spPr>
          <a:xfrm>
            <a:off x="914400" y="909000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Broadband spindles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8998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2614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Coherent-Event analysis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48584" y="1219200"/>
            <a:ext cx="723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Analysis - Cross-Covariance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D</a:t>
            </a:r>
            <a:r>
              <a:rPr lang="en-GB" dirty="0" smtClean="0"/>
              <a:t>etermine </a:t>
            </a:r>
            <a:r>
              <a:rPr lang="en-GB" dirty="0" smtClean="0"/>
              <a:t>delay between </a:t>
            </a:r>
            <a:r>
              <a:rPr lang="en-GB" dirty="0" smtClean="0"/>
              <a:t>frontal and hippocampal spindles</a:t>
            </a:r>
            <a:endParaRPr lang="en-GB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Use window +/- 100 </a:t>
            </a:r>
            <a:r>
              <a:rPr lang="en-GB" dirty="0" err="1" smtClean="0"/>
              <a:t>ms</a:t>
            </a:r>
            <a:r>
              <a:rPr lang="en-GB" dirty="0" smtClean="0"/>
              <a:t> spindle </a:t>
            </a:r>
            <a:r>
              <a:rPr lang="en-GB" dirty="0" smtClean="0"/>
              <a:t>range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Due to low number of cases events are pooled across all mice for each condition</a:t>
            </a:r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734654" y="3937485"/>
            <a:ext cx="3505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734654" y="4656755"/>
            <a:ext cx="35052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030054" y="3632685"/>
            <a:ext cx="1066800" cy="304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4182454" y="4351955"/>
            <a:ext cx="1066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2035324" y="3576699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FRO-</a:t>
            </a:r>
            <a:r>
              <a:rPr lang="en-GB" dirty="0" err="1" smtClean="0"/>
              <a:t>Spi</a:t>
            </a:r>
            <a:endParaRPr lang="en-GB" dirty="0"/>
          </a:p>
        </p:txBody>
      </p:sp>
      <p:sp>
        <p:nvSpPr>
          <p:cNvPr id="29" name="TextBox 28"/>
          <p:cNvSpPr txBox="1"/>
          <p:nvPr/>
        </p:nvSpPr>
        <p:spPr>
          <a:xfrm>
            <a:off x="2035324" y="4295479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CA1-Spi</a:t>
            </a:r>
            <a:endParaRPr lang="en-GB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4030054" y="3348046"/>
            <a:ext cx="0" cy="16764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515599" y="3348046"/>
            <a:ext cx="0" cy="16764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771545" y="3348046"/>
            <a:ext cx="0" cy="16764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257090" y="3348046"/>
            <a:ext cx="0" cy="16764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030054" y="5024446"/>
            <a:ext cx="1219200" cy="0"/>
          </a:xfrm>
          <a:prstGeom prst="straightConnector1">
            <a:avLst/>
          </a:prstGeom>
          <a:ln w="317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725254" y="5100646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Spindle range</a:t>
            </a:r>
            <a:endParaRPr lang="en-GB"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3496654" y="2991516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100 </a:t>
            </a:r>
            <a:r>
              <a:rPr lang="en-GB" sz="1400" dirty="0" err="1" smtClean="0"/>
              <a:t>ms</a:t>
            </a:r>
            <a:endParaRPr lang="en-GB" sz="1400" dirty="0"/>
          </a:p>
        </p:txBody>
      </p:sp>
      <p:sp>
        <p:nvSpPr>
          <p:cNvPr id="37" name="TextBox 36"/>
          <p:cNvSpPr txBox="1"/>
          <p:nvPr/>
        </p:nvSpPr>
        <p:spPr>
          <a:xfrm>
            <a:off x="4999291" y="2991516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100 </a:t>
            </a:r>
            <a:r>
              <a:rPr lang="en-GB" sz="1400" dirty="0" err="1" smtClean="0"/>
              <a:t>ms</a:t>
            </a:r>
            <a:endParaRPr lang="en-GB" sz="1400" dirty="0"/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3771545" y="5637023"/>
            <a:ext cx="1744054" cy="0"/>
          </a:xfrm>
          <a:prstGeom prst="straightConnector1">
            <a:avLst/>
          </a:prstGeom>
          <a:ln w="317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745193" y="5713223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Analysis window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997457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2614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Coherent-Event analysis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48584" y="1219200"/>
            <a:ext cx="7239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Analysis </a:t>
            </a:r>
            <a:r>
              <a:rPr lang="en-GB" dirty="0" smtClean="0"/>
              <a:t>– Ripple-locked analysis</a:t>
            </a:r>
            <a:endParaRPr lang="en-GB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Select ripples within frontal-hippocampal spindle events</a:t>
            </a:r>
            <a:endParaRPr lang="en-GB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Average raw FRO and CA1 EEG-signal and signal filtered in spindle band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Determine </a:t>
            </a:r>
            <a:r>
              <a:rPr lang="en-GB" dirty="0" smtClean="0"/>
              <a:t>the </a:t>
            </a:r>
            <a:r>
              <a:rPr lang="en-GB" dirty="0" smtClean="0"/>
              <a:t>phase ripples occur within spindles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Time-frequency plots of spindle troughs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Analysis also performed </a:t>
            </a:r>
            <a:r>
              <a:rPr lang="en-GB" smtClean="0"/>
              <a:t>over pooled 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5438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Bildschirmpräsentation (4:3)</PresentationFormat>
  <Paragraphs>39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Hong-Viet Ngo</dc:creator>
  <cp:lastModifiedBy>Hong-Viet V. Ngo</cp:lastModifiedBy>
  <cp:revision>8</cp:revision>
  <dcterms:created xsi:type="dcterms:W3CDTF">2006-08-16T00:00:00Z</dcterms:created>
  <dcterms:modified xsi:type="dcterms:W3CDTF">2017-04-06T09:10:00Z</dcterms:modified>
</cp:coreProperties>
</file>