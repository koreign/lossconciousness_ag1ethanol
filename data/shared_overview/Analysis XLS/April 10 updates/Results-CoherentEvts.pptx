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2" r:id="rId6"/>
    <p:sldId id="265" r:id="rId7"/>
    <p:sldId id="259" r:id="rId8"/>
    <p:sldId id="261" r:id="rId9"/>
    <p:sldId id="264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13" Type="http://schemas.openxmlformats.org/officeDocument/2006/relationships/image" Target="../media/image24.emf"/><Relationship Id="rId3" Type="http://schemas.openxmlformats.org/officeDocument/2006/relationships/image" Target="../media/image14.emf"/><Relationship Id="rId7" Type="http://schemas.openxmlformats.org/officeDocument/2006/relationships/image" Target="../media/image18.emf"/><Relationship Id="rId12" Type="http://schemas.openxmlformats.org/officeDocument/2006/relationships/image" Target="../media/image23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emf"/><Relationship Id="rId11" Type="http://schemas.openxmlformats.org/officeDocument/2006/relationships/image" Target="../media/image22.emf"/><Relationship Id="rId5" Type="http://schemas.openxmlformats.org/officeDocument/2006/relationships/image" Target="../media/image16.emf"/><Relationship Id="rId10" Type="http://schemas.openxmlformats.org/officeDocument/2006/relationships/image" Target="../media/image21.emf"/><Relationship Id="rId4" Type="http://schemas.openxmlformats.org/officeDocument/2006/relationships/image" Target="../media/image15.emf"/><Relationship Id="rId9" Type="http://schemas.openxmlformats.org/officeDocument/2006/relationships/image" Target="../media/image20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image" Target="../media/image36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12" Type="http://schemas.openxmlformats.org/officeDocument/2006/relationships/image" Target="../media/image35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8.emf"/><Relationship Id="rId10" Type="http://schemas.openxmlformats.org/officeDocument/2006/relationships/image" Target="../media/image33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48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12" Type="http://schemas.openxmlformats.org/officeDocument/2006/relationships/image" Target="../media/image47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emf"/><Relationship Id="rId11" Type="http://schemas.openxmlformats.org/officeDocument/2006/relationships/image" Target="../media/image46.emf"/><Relationship Id="rId5" Type="http://schemas.openxmlformats.org/officeDocument/2006/relationships/image" Target="../media/image40.emf"/><Relationship Id="rId10" Type="http://schemas.openxmlformats.org/officeDocument/2006/relationships/image" Target="../media/image45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13" Type="http://schemas.openxmlformats.org/officeDocument/2006/relationships/image" Target="../media/image60.emf"/><Relationship Id="rId3" Type="http://schemas.openxmlformats.org/officeDocument/2006/relationships/image" Target="../media/image50.emf"/><Relationship Id="rId7" Type="http://schemas.openxmlformats.org/officeDocument/2006/relationships/image" Target="../media/image54.emf"/><Relationship Id="rId12" Type="http://schemas.openxmlformats.org/officeDocument/2006/relationships/image" Target="../media/image59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emf"/><Relationship Id="rId11" Type="http://schemas.openxmlformats.org/officeDocument/2006/relationships/image" Target="../media/image58.emf"/><Relationship Id="rId5" Type="http://schemas.openxmlformats.org/officeDocument/2006/relationships/image" Target="../media/image52.emf"/><Relationship Id="rId10" Type="http://schemas.openxmlformats.org/officeDocument/2006/relationships/image" Target="../media/image57.emf"/><Relationship Id="rId4" Type="http://schemas.openxmlformats.org/officeDocument/2006/relationships/image" Target="../media/image51.emf"/><Relationship Id="rId9" Type="http://schemas.openxmlformats.org/officeDocument/2006/relationships/image" Target="../media/image5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Coherent-Event analysis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94908" y="850855"/>
            <a:ext cx="7943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Definition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Determine overlapping spindle events between (within 750 </a:t>
            </a:r>
            <a:r>
              <a:rPr lang="en-GB" dirty="0" err="1" smtClean="0"/>
              <a:t>ms</a:t>
            </a:r>
            <a:r>
              <a:rPr lang="en-GB" dirty="0" smtClean="0"/>
              <a:t> post-stimulus)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 smtClean="0"/>
              <a:t>FRO – PAR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 smtClean="0"/>
              <a:t>FRO – CA1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 smtClean="0"/>
              <a:t>PAR – CA1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Additionally check whether these coherent events contain an offline-detected ripple event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1676400" y="4125622"/>
            <a:ext cx="6511184" cy="62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676400" y="4851162"/>
            <a:ext cx="6511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71800" y="3827092"/>
            <a:ext cx="10668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3124200" y="4546362"/>
            <a:ext cx="1066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6400" y="5571146"/>
            <a:ext cx="651118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985761" y="5266346"/>
            <a:ext cx="5715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6220200" y="3827092"/>
            <a:ext cx="10668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>
            <a:off x="6571646" y="4546362"/>
            <a:ext cx="685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977070" y="364641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FRO-</a:t>
            </a:r>
            <a:r>
              <a:rPr lang="en-GB" dirty="0" err="1" smtClean="0"/>
              <a:t>Spi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977070" y="4365191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CA1-Spi</a:t>
            </a:r>
            <a:endParaRPr lang="en-GB" dirty="0"/>
          </a:p>
        </p:txBody>
      </p:sp>
      <p:sp>
        <p:nvSpPr>
          <p:cNvPr id="30" name="TextBox 29"/>
          <p:cNvSpPr txBox="1"/>
          <p:nvPr/>
        </p:nvSpPr>
        <p:spPr>
          <a:xfrm>
            <a:off x="977069" y="5085665"/>
            <a:ext cx="1359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CA1-Ripple</a:t>
            </a:r>
            <a:endParaRPr lang="en-GB" dirty="0"/>
          </a:p>
        </p:txBody>
      </p:sp>
      <p:sp>
        <p:nvSpPr>
          <p:cNvPr id="31" name="TextBox 30"/>
          <p:cNvSpPr txBox="1"/>
          <p:nvPr/>
        </p:nvSpPr>
        <p:spPr>
          <a:xfrm>
            <a:off x="2590800" y="574832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Coherent FRO-CA1</a:t>
            </a:r>
          </a:p>
          <a:p>
            <a:pPr algn="ctr"/>
            <a:r>
              <a:rPr lang="en-GB" sz="1400" dirty="0" smtClean="0"/>
              <a:t>spindle event </a:t>
            </a:r>
            <a:endParaRPr lang="en-GB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5839200" y="574832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Coherent FRO-CA1</a:t>
            </a:r>
          </a:p>
          <a:p>
            <a:pPr algn="ctr"/>
            <a:r>
              <a:rPr lang="en-GB" sz="1400" dirty="0" smtClean="0"/>
              <a:t>Spindle-ripple event </a:t>
            </a:r>
            <a:endParaRPr lang="en-GB" sz="1400" dirty="0"/>
          </a:p>
        </p:txBody>
      </p:sp>
      <p:cxnSp>
        <p:nvCxnSpPr>
          <p:cNvPr id="6" name="Gerader Verbinder 5"/>
          <p:cNvCxnSpPr/>
          <p:nvPr/>
        </p:nvCxnSpPr>
        <p:spPr>
          <a:xfrm>
            <a:off x="2772000" y="3573000"/>
            <a:ext cx="0" cy="2175320"/>
          </a:xfrm>
          <a:prstGeom prst="line">
            <a:avLst/>
          </a:prstGeom>
          <a:ln w="317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ewitterblitz 7"/>
          <p:cNvSpPr/>
          <p:nvPr/>
        </p:nvSpPr>
        <p:spPr>
          <a:xfrm>
            <a:off x="2628000" y="3113554"/>
            <a:ext cx="288000" cy="360000"/>
          </a:xfrm>
          <a:prstGeom prst="lightningBol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r Verbinder 19"/>
          <p:cNvCxnSpPr/>
          <p:nvPr/>
        </p:nvCxnSpPr>
        <p:spPr>
          <a:xfrm>
            <a:off x="6068891" y="3573000"/>
            <a:ext cx="0" cy="2175320"/>
          </a:xfrm>
          <a:prstGeom prst="line">
            <a:avLst/>
          </a:prstGeom>
          <a:ln w="317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ewitterblitz 20"/>
          <p:cNvSpPr/>
          <p:nvPr/>
        </p:nvSpPr>
        <p:spPr>
          <a:xfrm>
            <a:off x="5924891" y="3113554"/>
            <a:ext cx="288000" cy="360000"/>
          </a:xfrm>
          <a:prstGeom prst="lightningBol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6539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84" y="2226134"/>
            <a:ext cx="4316342" cy="2158171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99" y="2226134"/>
            <a:ext cx="2456901" cy="2158171"/>
          </a:xfrm>
          <a:prstGeom prst="rect">
            <a:avLst/>
          </a:prstGeom>
        </p:spPr>
      </p:pic>
      <p:sp>
        <p:nvSpPr>
          <p:cNvPr id="4" name="Textfeld 3"/>
          <p:cNvSpPr txBox="1"/>
          <p:nvPr/>
        </p:nvSpPr>
        <p:spPr>
          <a:xfrm>
            <a:off x="891099" y="5108671"/>
            <a:ext cx="72809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 smtClean="0"/>
              <a:t>Only</a:t>
            </a:r>
            <a:r>
              <a:rPr lang="de-DE" dirty="0" smtClean="0"/>
              <a:t> In-phase </a:t>
            </a:r>
            <a:r>
              <a:rPr lang="de-DE" dirty="0" err="1" smtClean="0"/>
              <a:t>stimulation</a:t>
            </a:r>
            <a:r>
              <a:rPr lang="de-DE" dirty="0"/>
              <a:t> </a:t>
            </a:r>
            <a:r>
              <a:rPr lang="de-DE" dirty="0" err="1" smtClean="0"/>
              <a:t>increases</a:t>
            </a:r>
            <a:r>
              <a:rPr lang="de-DE" dirty="0" smtClean="0"/>
              <a:t> </a:t>
            </a:r>
            <a:r>
              <a:rPr lang="de-DE" dirty="0" err="1" smtClean="0"/>
              <a:t>probability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/>
              <a:t> </a:t>
            </a:r>
            <a:r>
              <a:rPr lang="de-DE" dirty="0" smtClean="0"/>
              <a:t>frontal-parietal, frontal-</a:t>
            </a:r>
            <a:r>
              <a:rPr lang="de-DE" dirty="0" err="1" smtClean="0"/>
              <a:t>hippocampal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global spindle </a:t>
            </a:r>
            <a:r>
              <a:rPr lang="de-DE" dirty="0" err="1" smtClean="0"/>
              <a:t>events</a:t>
            </a:r>
            <a:endParaRPr lang="de-DE" dirty="0" smtClean="0"/>
          </a:p>
          <a:p>
            <a:endParaRPr lang="de-DE" dirty="0"/>
          </a:p>
          <a:p>
            <a:r>
              <a:rPr lang="de-DE" dirty="0" smtClean="0"/>
              <a:t>Same </a:t>
            </a:r>
            <a:r>
              <a:rPr lang="de-DE" dirty="0" err="1" smtClean="0"/>
              <a:t>holds</a:t>
            </a:r>
            <a:r>
              <a:rPr lang="de-DE" dirty="0" smtClean="0"/>
              <a:t> </a:t>
            </a:r>
            <a:r>
              <a:rPr lang="de-DE" dirty="0" err="1" smtClean="0"/>
              <a:t>for</a:t>
            </a:r>
            <a:r>
              <a:rPr lang="de-DE" dirty="0" smtClean="0"/>
              <a:t> frontal-</a:t>
            </a:r>
            <a:r>
              <a:rPr lang="de-DE" dirty="0" err="1" smtClean="0"/>
              <a:t>hippocampal</a:t>
            </a:r>
            <a:r>
              <a:rPr lang="de-DE" dirty="0" smtClean="0"/>
              <a:t> </a:t>
            </a:r>
            <a:r>
              <a:rPr lang="de-DE" dirty="0" err="1" smtClean="0"/>
              <a:t>events</a:t>
            </a:r>
            <a:r>
              <a:rPr lang="de-DE" dirty="0" smtClean="0"/>
              <a:t> </a:t>
            </a:r>
            <a:r>
              <a:rPr lang="de-DE" dirty="0" err="1" smtClean="0"/>
              <a:t>including</a:t>
            </a:r>
            <a:r>
              <a:rPr lang="de-DE" dirty="0" smtClean="0"/>
              <a:t> </a:t>
            </a:r>
            <a:r>
              <a:rPr lang="de-DE" dirty="0" err="1" smtClean="0"/>
              <a:t>ripples</a:t>
            </a:r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490989" y="2527074"/>
            <a:ext cx="400110" cy="1584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de-DE" sz="1400" dirty="0" err="1" smtClean="0"/>
              <a:t>Incidence</a:t>
            </a:r>
            <a:r>
              <a:rPr lang="de-DE" sz="1400" dirty="0" smtClean="0"/>
              <a:t> rate (%)</a:t>
            </a:r>
            <a:endParaRPr lang="de-DE" sz="1400" dirty="0"/>
          </a:p>
        </p:txBody>
      </p:sp>
      <p:sp>
        <p:nvSpPr>
          <p:cNvPr id="6" name="TextBox 1"/>
          <p:cNvSpPr txBox="1"/>
          <p:nvPr/>
        </p:nvSpPr>
        <p:spPr>
          <a:xfrm>
            <a:off x="914400" y="9090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Slow spindles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150914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490989" y="2527074"/>
            <a:ext cx="400110" cy="15840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de-DE" sz="1400" dirty="0" err="1" smtClean="0"/>
              <a:t>Incidence</a:t>
            </a:r>
            <a:r>
              <a:rPr lang="de-DE" sz="1400" dirty="0" smtClean="0"/>
              <a:t> rate (%)</a:t>
            </a:r>
            <a:endParaRPr lang="de-DE" sz="140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55" y="2230553"/>
            <a:ext cx="4316342" cy="2158171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99" y="2230552"/>
            <a:ext cx="2456901" cy="2158171"/>
          </a:xfrm>
          <a:prstGeom prst="rect">
            <a:avLst/>
          </a:prstGeom>
        </p:spPr>
      </p:pic>
      <p:sp>
        <p:nvSpPr>
          <p:cNvPr id="8" name="TextBox 1"/>
          <p:cNvSpPr txBox="1"/>
          <p:nvPr/>
        </p:nvSpPr>
        <p:spPr>
          <a:xfrm>
            <a:off x="914400" y="9090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Broadband spindles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998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Coherent-Event analysis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48584" y="1219200"/>
            <a:ext cx="7239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Analysis - Cross-Covariance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D</a:t>
            </a:r>
            <a:r>
              <a:rPr lang="en-GB" dirty="0" smtClean="0"/>
              <a:t>etermine delay between frontal and hippocampal spindles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Use window +/- 100 </a:t>
            </a:r>
            <a:r>
              <a:rPr lang="en-GB" dirty="0" err="1" smtClean="0"/>
              <a:t>ms</a:t>
            </a:r>
            <a:r>
              <a:rPr lang="en-GB" dirty="0" smtClean="0"/>
              <a:t> spindle range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Due to low number of cases events are pooled across all mice for each condition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734654" y="3937485"/>
            <a:ext cx="35052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734654" y="4656755"/>
            <a:ext cx="35052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030054" y="3632685"/>
            <a:ext cx="1066800" cy="3048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4182454" y="4351955"/>
            <a:ext cx="1066800" cy="3048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/>
          <p:cNvSpPr txBox="1"/>
          <p:nvPr/>
        </p:nvSpPr>
        <p:spPr>
          <a:xfrm>
            <a:off x="2035324" y="357669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FRO-</a:t>
            </a:r>
            <a:r>
              <a:rPr lang="en-GB" dirty="0" err="1" smtClean="0"/>
              <a:t>Spi</a:t>
            </a:r>
            <a:endParaRPr lang="en-GB" dirty="0"/>
          </a:p>
        </p:txBody>
      </p:sp>
      <p:sp>
        <p:nvSpPr>
          <p:cNvPr id="29" name="TextBox 28"/>
          <p:cNvSpPr txBox="1"/>
          <p:nvPr/>
        </p:nvSpPr>
        <p:spPr>
          <a:xfrm>
            <a:off x="2035324" y="429547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CA1-Spi</a:t>
            </a:r>
            <a:endParaRPr lang="en-GB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4030054" y="3348046"/>
            <a:ext cx="0" cy="16764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515599" y="3348046"/>
            <a:ext cx="0" cy="16764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771545" y="3348046"/>
            <a:ext cx="0" cy="16764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257090" y="3348046"/>
            <a:ext cx="0" cy="167640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030054" y="5024446"/>
            <a:ext cx="1219200" cy="0"/>
          </a:xfrm>
          <a:prstGeom prst="straightConnector1">
            <a:avLst/>
          </a:prstGeom>
          <a:ln w="317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725254" y="5100646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Spindle range</a:t>
            </a:r>
            <a:endParaRPr lang="en-GB" sz="1400" dirty="0"/>
          </a:p>
        </p:txBody>
      </p:sp>
      <p:sp>
        <p:nvSpPr>
          <p:cNvPr id="36" name="TextBox 35"/>
          <p:cNvSpPr txBox="1"/>
          <p:nvPr/>
        </p:nvSpPr>
        <p:spPr>
          <a:xfrm>
            <a:off x="3496654" y="2991516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100 </a:t>
            </a:r>
            <a:r>
              <a:rPr lang="en-GB" sz="1400" dirty="0" err="1" smtClean="0"/>
              <a:t>ms</a:t>
            </a:r>
            <a:endParaRPr lang="en-GB" sz="1400" dirty="0"/>
          </a:p>
        </p:txBody>
      </p:sp>
      <p:sp>
        <p:nvSpPr>
          <p:cNvPr id="37" name="TextBox 36"/>
          <p:cNvSpPr txBox="1"/>
          <p:nvPr/>
        </p:nvSpPr>
        <p:spPr>
          <a:xfrm>
            <a:off x="4999291" y="2991516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100 </a:t>
            </a:r>
            <a:r>
              <a:rPr lang="en-GB" sz="1400" dirty="0" err="1" smtClean="0"/>
              <a:t>ms</a:t>
            </a:r>
            <a:endParaRPr lang="en-GB" sz="1400" dirty="0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3771545" y="5637023"/>
            <a:ext cx="1744054" cy="0"/>
          </a:xfrm>
          <a:prstGeom prst="straightConnector1">
            <a:avLst/>
          </a:prstGeom>
          <a:ln w="3175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745193" y="5713223"/>
            <a:ext cx="182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Analysis window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99745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490989" y="1810926"/>
            <a:ext cx="400110" cy="269807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de-DE" sz="1400" dirty="0" smtClean="0"/>
              <a:t>Lag between FRO and CA1 spindles</a:t>
            </a:r>
            <a:endParaRPr lang="de-DE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1629946" y="1503148"/>
            <a:ext cx="2215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FRO-CA1 Spindle events</a:t>
            </a:r>
            <a:endParaRPr lang="en-GB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5190604" y="1503147"/>
            <a:ext cx="2582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FRO-CA1 Spindle-Ripple events</a:t>
            </a:r>
            <a:endParaRPr lang="en-GB" sz="1400" dirty="0"/>
          </a:p>
        </p:txBody>
      </p:sp>
      <p:sp>
        <p:nvSpPr>
          <p:cNvPr id="8" name="TextBox 1"/>
          <p:cNvSpPr txBox="1"/>
          <p:nvPr/>
        </p:nvSpPr>
        <p:spPr>
          <a:xfrm>
            <a:off x="914400" y="9090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Slow spindles</a:t>
            </a:r>
            <a:endParaRPr lang="en-GB" b="1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54" y="1897901"/>
            <a:ext cx="3243353" cy="2523963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954" y="1903998"/>
            <a:ext cx="3243353" cy="251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9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490989" y="1738926"/>
            <a:ext cx="400110" cy="269807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de-DE" sz="1400" dirty="0" smtClean="0"/>
              <a:t>Lag between FRO and CA1 spindles</a:t>
            </a:r>
            <a:endParaRPr lang="de-DE" sz="1400" dirty="0"/>
          </a:p>
        </p:txBody>
      </p:sp>
      <p:sp>
        <p:nvSpPr>
          <p:cNvPr id="5" name="TextBox 5"/>
          <p:cNvSpPr txBox="1"/>
          <p:nvPr/>
        </p:nvSpPr>
        <p:spPr>
          <a:xfrm>
            <a:off x="1629946" y="1431148"/>
            <a:ext cx="2215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FRO-CA1 Spindle events</a:t>
            </a:r>
            <a:endParaRPr lang="en-GB" sz="1400" dirty="0"/>
          </a:p>
        </p:txBody>
      </p:sp>
      <p:sp>
        <p:nvSpPr>
          <p:cNvPr id="6" name="TextBox 6"/>
          <p:cNvSpPr txBox="1"/>
          <p:nvPr/>
        </p:nvSpPr>
        <p:spPr>
          <a:xfrm>
            <a:off x="5190604" y="1431147"/>
            <a:ext cx="2582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FRO-CA1 Spindle-Ripple events</a:t>
            </a:r>
            <a:endParaRPr lang="en-GB" sz="1400" dirty="0"/>
          </a:p>
        </p:txBody>
      </p:sp>
      <p:sp>
        <p:nvSpPr>
          <p:cNvPr id="9" name="TextBox 1"/>
          <p:cNvSpPr txBox="1"/>
          <p:nvPr/>
        </p:nvSpPr>
        <p:spPr>
          <a:xfrm>
            <a:off x="914400" y="909000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Broadband spindles</a:t>
            </a:r>
            <a:endParaRPr lang="en-GB" b="1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54" y="1821965"/>
            <a:ext cx="3243353" cy="2523963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954" y="1825013"/>
            <a:ext cx="3243353" cy="251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183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Coherent-Event analysis</a:t>
            </a:r>
            <a:endParaRPr lang="en-GB" b="1" dirty="0"/>
          </a:p>
        </p:txBody>
      </p:sp>
      <p:sp>
        <p:nvSpPr>
          <p:cNvPr id="3" name="TextBox 2"/>
          <p:cNvSpPr txBox="1"/>
          <p:nvPr/>
        </p:nvSpPr>
        <p:spPr>
          <a:xfrm>
            <a:off x="948584" y="1219200"/>
            <a:ext cx="7239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Ripple-locked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Select ripples within frontal-hippocampal spindle events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Average raw FRO and CA1 EEG-signal and signal filtered in spindle band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Time-frequency plots of spindle troughs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Analysis also performed over pooled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r>
              <a:rPr lang="en-GB" dirty="0" smtClean="0"/>
              <a:t>Spindle trough locked analysis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Select troughs of frontal spindles within coherent events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Perform time-frequency analysis from 100 to 250 Hz on both FRO and CA1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 smtClean="0"/>
              <a:t>Event correlation of CA1 spindle troughs time-locked to frontal spindles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5438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00" y="405001"/>
            <a:ext cx="3554251" cy="2660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00" y="401825"/>
            <a:ext cx="3554251" cy="266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99" y="3460062"/>
            <a:ext cx="3554251" cy="266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999" y="3469937"/>
            <a:ext cx="3554251" cy="266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4886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feld 13"/>
          <p:cNvSpPr txBox="1"/>
          <p:nvPr/>
        </p:nvSpPr>
        <p:spPr>
          <a:xfrm>
            <a:off x="1263889" y="861887"/>
            <a:ext cx="40011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smtClean="0"/>
              <a:t>IN</a:t>
            </a:r>
            <a:endParaRPr lang="de-DE" sz="1400" dirty="0"/>
          </a:p>
        </p:txBody>
      </p:sp>
      <p:sp>
        <p:nvSpPr>
          <p:cNvPr id="15" name="Textfeld 14"/>
          <p:cNvSpPr txBox="1"/>
          <p:nvPr/>
        </p:nvSpPr>
        <p:spPr>
          <a:xfrm>
            <a:off x="5414506" y="861887"/>
            <a:ext cx="77024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smtClean="0"/>
              <a:t>OUT</a:t>
            </a:r>
            <a:endParaRPr lang="de-DE" sz="1400" dirty="0"/>
          </a:p>
        </p:txBody>
      </p:sp>
      <p:sp>
        <p:nvSpPr>
          <p:cNvPr id="16" name="Textfeld 15"/>
          <p:cNvSpPr txBox="1"/>
          <p:nvPr/>
        </p:nvSpPr>
        <p:spPr>
          <a:xfrm>
            <a:off x="3036094" y="861887"/>
            <a:ext cx="118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err="1" smtClean="0"/>
              <a:t>NOStim</a:t>
            </a:r>
            <a:r>
              <a:rPr lang="de-DE" sz="1400" dirty="0" smtClean="0"/>
              <a:t>-IN</a:t>
            </a:r>
            <a:endParaRPr lang="de-DE" sz="1400" dirty="0"/>
          </a:p>
        </p:txBody>
      </p:sp>
      <p:sp>
        <p:nvSpPr>
          <p:cNvPr id="17" name="Textfeld 16"/>
          <p:cNvSpPr txBox="1"/>
          <p:nvPr/>
        </p:nvSpPr>
        <p:spPr>
          <a:xfrm>
            <a:off x="7125435" y="861887"/>
            <a:ext cx="166876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err="1" smtClean="0"/>
              <a:t>NOStim</a:t>
            </a:r>
            <a:r>
              <a:rPr lang="de-DE" sz="1400" dirty="0" smtClean="0"/>
              <a:t>-OUT</a:t>
            </a:r>
            <a:endParaRPr lang="de-DE" sz="1400" dirty="0"/>
          </a:p>
        </p:txBody>
      </p:sp>
      <p:sp>
        <p:nvSpPr>
          <p:cNvPr id="26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 FRO-CA1 Spindle events – Slow spindles</a:t>
            </a:r>
            <a:endParaRPr lang="en-GB" b="1" dirty="0"/>
          </a:p>
        </p:txBody>
      </p:sp>
      <p:pic>
        <p:nvPicPr>
          <p:cNvPr id="27" name="Grafik 26"/>
          <p:cNvPicPr>
            <a:picLocks noChangeAspect="1"/>
          </p:cNvPicPr>
          <p:nvPr/>
        </p:nvPicPr>
        <p:blipFill rotWithShape="1">
          <a:blip r:embed="rId2"/>
          <a:srcRect r="22802"/>
          <a:stretch/>
        </p:blipFill>
        <p:spPr>
          <a:xfrm>
            <a:off x="247433" y="1302632"/>
            <a:ext cx="2209135" cy="2149875"/>
          </a:xfrm>
          <a:prstGeom prst="rect">
            <a:avLst/>
          </a:prstGeom>
        </p:spPr>
      </p:pic>
      <p:pic>
        <p:nvPicPr>
          <p:cNvPr id="28" name="Grafik 27"/>
          <p:cNvPicPr>
            <a:picLocks noChangeAspect="1"/>
          </p:cNvPicPr>
          <p:nvPr/>
        </p:nvPicPr>
        <p:blipFill rotWithShape="1">
          <a:blip r:embed="rId3"/>
          <a:srcRect l="12399" r="23271"/>
          <a:stretch/>
        </p:blipFill>
        <p:spPr>
          <a:xfrm>
            <a:off x="4925073" y="1282856"/>
            <a:ext cx="1840895" cy="2149875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/>
        </p:nvPicPr>
        <p:blipFill rotWithShape="1">
          <a:blip r:embed="rId4"/>
          <a:srcRect l="11453" r="23131"/>
          <a:stretch/>
        </p:blipFill>
        <p:spPr>
          <a:xfrm>
            <a:off x="2723607" y="1289424"/>
            <a:ext cx="1872000" cy="2149875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 rotWithShape="1">
          <a:blip r:embed="rId5"/>
          <a:srcRect l="12519" r="22064"/>
          <a:stretch/>
        </p:blipFill>
        <p:spPr>
          <a:xfrm>
            <a:off x="7072025" y="1282855"/>
            <a:ext cx="1872000" cy="2149875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86" y="3270969"/>
            <a:ext cx="2335317" cy="9009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1968" y="3270969"/>
            <a:ext cx="2335317" cy="900900"/>
          </a:xfrm>
          <a:prstGeom prst="rect">
            <a:avLst/>
          </a:prstGeom>
        </p:spPr>
      </p:pic>
      <p:pic>
        <p:nvPicPr>
          <p:cNvPr id="33" name="Grafik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9936" y="3269029"/>
            <a:ext cx="2335317" cy="900900"/>
          </a:xfrm>
          <a:prstGeom prst="rect">
            <a:avLst/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2160" y="3270969"/>
            <a:ext cx="2335317" cy="9009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142" y="4178404"/>
            <a:ext cx="2386418" cy="854832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1968" y="4178404"/>
            <a:ext cx="2376198" cy="854832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48096" y="4178404"/>
            <a:ext cx="2376198" cy="854832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91968" y="4178404"/>
            <a:ext cx="2386418" cy="854832"/>
          </a:xfrm>
          <a:prstGeom prst="rect">
            <a:avLst/>
          </a:prstGeom>
        </p:spPr>
      </p:pic>
      <p:sp>
        <p:nvSpPr>
          <p:cNvPr id="35" name="TextBox 2"/>
          <p:cNvSpPr txBox="1"/>
          <p:nvPr/>
        </p:nvSpPr>
        <p:spPr>
          <a:xfrm>
            <a:off x="958145" y="5405696"/>
            <a:ext cx="7239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 smtClean="0"/>
              <a:t>t = 0 equals spindle troughs of frontal spindles (within coherent events)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 smtClean="0"/>
              <a:t>Time-frequency plots span </a:t>
            </a:r>
            <a:r>
              <a:rPr lang="en-GB" sz="1600" dirty="0" err="1" smtClean="0"/>
              <a:t>rippleband</a:t>
            </a:r>
            <a:r>
              <a:rPr lang="en-GB" sz="1600" dirty="0" smtClean="0"/>
              <a:t> frequency for FRO and CA1 recordings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 smtClean="0"/>
              <a:t>Middle: Average ripple power derived from time-frequency plots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600" dirty="0" smtClean="0"/>
              <a:t>Bottom: Event correlation of CA1-spindle troughs with respect to FRO spindles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69702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 FRO-CA1 Spindle events – Broadband spindles</a:t>
            </a:r>
            <a:endParaRPr lang="en-GB" b="1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2"/>
          <a:srcRect l="2516" r="22003"/>
          <a:stretch/>
        </p:blipFill>
        <p:spPr>
          <a:xfrm>
            <a:off x="307939" y="1293207"/>
            <a:ext cx="2160000" cy="214987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3"/>
          <a:srcRect l="12580" r="22003"/>
          <a:stretch/>
        </p:blipFill>
        <p:spPr>
          <a:xfrm>
            <a:off x="4912296" y="1304528"/>
            <a:ext cx="1872000" cy="214987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4"/>
          <a:srcRect l="12580" r="22003"/>
          <a:stretch/>
        </p:blipFill>
        <p:spPr>
          <a:xfrm>
            <a:off x="2758423" y="1293207"/>
            <a:ext cx="1872000" cy="214987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 rotWithShape="1">
          <a:blip r:embed="rId5"/>
          <a:srcRect l="12580" r="22003"/>
          <a:stretch/>
        </p:blipFill>
        <p:spPr>
          <a:xfrm>
            <a:off x="7080024" y="1304527"/>
            <a:ext cx="1872000" cy="2149875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939" y="3316941"/>
            <a:ext cx="2330207" cy="9009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467" y="3316941"/>
            <a:ext cx="2330207" cy="900900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6189" y="3316941"/>
            <a:ext cx="2330207" cy="9009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60" y="3316941"/>
            <a:ext cx="2330207" cy="90090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837" y="4219038"/>
            <a:ext cx="2386418" cy="854832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0966" y="4219038"/>
            <a:ext cx="2386418" cy="854832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18083" y="4219038"/>
            <a:ext cx="2386418" cy="854832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2269" y="4219038"/>
            <a:ext cx="2386418" cy="854832"/>
          </a:xfrm>
          <a:prstGeom prst="rect">
            <a:avLst/>
          </a:prstGeom>
        </p:spPr>
      </p:pic>
      <p:sp>
        <p:nvSpPr>
          <p:cNvPr id="15" name="Textfeld 14"/>
          <p:cNvSpPr txBox="1"/>
          <p:nvPr/>
        </p:nvSpPr>
        <p:spPr>
          <a:xfrm>
            <a:off x="1263889" y="861887"/>
            <a:ext cx="40011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smtClean="0"/>
              <a:t>IN</a:t>
            </a:r>
            <a:endParaRPr lang="de-DE" sz="1400" dirty="0"/>
          </a:p>
        </p:txBody>
      </p:sp>
      <p:sp>
        <p:nvSpPr>
          <p:cNvPr id="16" name="Textfeld 15"/>
          <p:cNvSpPr txBox="1"/>
          <p:nvPr/>
        </p:nvSpPr>
        <p:spPr>
          <a:xfrm>
            <a:off x="5414506" y="861887"/>
            <a:ext cx="77024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smtClean="0"/>
              <a:t>OUT</a:t>
            </a:r>
            <a:endParaRPr lang="de-DE" sz="1400" dirty="0"/>
          </a:p>
        </p:txBody>
      </p:sp>
      <p:sp>
        <p:nvSpPr>
          <p:cNvPr id="17" name="Textfeld 16"/>
          <p:cNvSpPr txBox="1"/>
          <p:nvPr/>
        </p:nvSpPr>
        <p:spPr>
          <a:xfrm>
            <a:off x="3036094" y="861887"/>
            <a:ext cx="118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err="1" smtClean="0"/>
              <a:t>NOStim</a:t>
            </a:r>
            <a:r>
              <a:rPr lang="de-DE" sz="1400" dirty="0" smtClean="0"/>
              <a:t>-IN</a:t>
            </a:r>
            <a:endParaRPr lang="de-DE" sz="1400" dirty="0"/>
          </a:p>
        </p:txBody>
      </p:sp>
      <p:sp>
        <p:nvSpPr>
          <p:cNvPr id="18" name="Textfeld 17"/>
          <p:cNvSpPr txBox="1"/>
          <p:nvPr/>
        </p:nvSpPr>
        <p:spPr>
          <a:xfrm>
            <a:off x="7125435" y="861887"/>
            <a:ext cx="166876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err="1" smtClean="0"/>
              <a:t>NOStim</a:t>
            </a:r>
            <a:r>
              <a:rPr lang="de-DE" sz="1400" dirty="0" smtClean="0"/>
              <a:t>-OUT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16636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 FRO-CA1 Spindle-Ripple events – Slow spindles</a:t>
            </a:r>
            <a:endParaRPr lang="en-GB" b="1" dirty="0"/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2"/>
          <a:srcRect r="22794"/>
          <a:stretch/>
        </p:blipFill>
        <p:spPr>
          <a:xfrm>
            <a:off x="233249" y="1288235"/>
            <a:ext cx="2209376" cy="2149875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/>
          <a:srcRect l="12350" r="22233"/>
          <a:stretch/>
        </p:blipFill>
        <p:spPr>
          <a:xfrm>
            <a:off x="4917897" y="1288234"/>
            <a:ext cx="1872000" cy="214987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4"/>
          <a:srcRect l="11820" r="22763"/>
          <a:stretch/>
        </p:blipFill>
        <p:spPr>
          <a:xfrm>
            <a:off x="2744739" y="1288235"/>
            <a:ext cx="1872001" cy="2149875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5"/>
          <a:srcRect l="12285" r="22299"/>
          <a:stretch/>
        </p:blipFill>
        <p:spPr>
          <a:xfrm>
            <a:off x="7069148" y="1270310"/>
            <a:ext cx="1872000" cy="214987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211" y="3303145"/>
            <a:ext cx="2335317" cy="90601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673" y="3303145"/>
            <a:ext cx="2335317" cy="90601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0335" y="3305704"/>
            <a:ext cx="2335317" cy="9009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942" y="3305704"/>
            <a:ext cx="2335317" cy="900900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2901" y="4216313"/>
            <a:ext cx="2386418" cy="854832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5686" y="4218873"/>
            <a:ext cx="2386418" cy="84971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43031" y="4218873"/>
            <a:ext cx="2386418" cy="849713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6042" y="4216313"/>
            <a:ext cx="2386418" cy="854832"/>
          </a:xfrm>
          <a:prstGeom prst="rect">
            <a:avLst/>
          </a:prstGeom>
        </p:spPr>
      </p:pic>
      <p:sp>
        <p:nvSpPr>
          <p:cNvPr id="23" name="Textfeld 22"/>
          <p:cNvSpPr txBox="1"/>
          <p:nvPr/>
        </p:nvSpPr>
        <p:spPr>
          <a:xfrm>
            <a:off x="1263889" y="861887"/>
            <a:ext cx="40011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smtClean="0"/>
              <a:t>IN</a:t>
            </a:r>
            <a:endParaRPr lang="de-DE" sz="1400" dirty="0"/>
          </a:p>
        </p:txBody>
      </p:sp>
      <p:sp>
        <p:nvSpPr>
          <p:cNvPr id="24" name="Textfeld 23"/>
          <p:cNvSpPr txBox="1"/>
          <p:nvPr/>
        </p:nvSpPr>
        <p:spPr>
          <a:xfrm>
            <a:off x="5414506" y="861887"/>
            <a:ext cx="77024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smtClean="0"/>
              <a:t>OUT</a:t>
            </a:r>
            <a:endParaRPr lang="de-DE" sz="1400" dirty="0"/>
          </a:p>
        </p:txBody>
      </p:sp>
      <p:sp>
        <p:nvSpPr>
          <p:cNvPr id="25" name="Textfeld 24"/>
          <p:cNvSpPr txBox="1"/>
          <p:nvPr/>
        </p:nvSpPr>
        <p:spPr>
          <a:xfrm>
            <a:off x="3036094" y="861887"/>
            <a:ext cx="118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err="1" smtClean="0"/>
              <a:t>NOStim</a:t>
            </a:r>
            <a:r>
              <a:rPr lang="de-DE" sz="1400" dirty="0" smtClean="0"/>
              <a:t>-IN</a:t>
            </a:r>
            <a:endParaRPr lang="de-DE" sz="1400" dirty="0"/>
          </a:p>
        </p:txBody>
      </p:sp>
      <p:sp>
        <p:nvSpPr>
          <p:cNvPr id="27" name="Textfeld 26"/>
          <p:cNvSpPr txBox="1"/>
          <p:nvPr/>
        </p:nvSpPr>
        <p:spPr>
          <a:xfrm>
            <a:off x="7125435" y="861887"/>
            <a:ext cx="166876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err="1" smtClean="0"/>
              <a:t>NOStim</a:t>
            </a:r>
            <a:r>
              <a:rPr lang="de-DE" sz="1400" dirty="0" smtClean="0"/>
              <a:t>-OUT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53118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72614"/>
            <a:ext cx="73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Coherent FRO-CA1 Spindle-Ripple events – Broadband spindles</a:t>
            </a:r>
            <a:endParaRPr lang="en-GB" b="1" dirty="0"/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 rotWithShape="1">
          <a:blip r:embed="rId2"/>
          <a:srcRect r="22003"/>
          <a:stretch/>
        </p:blipFill>
        <p:spPr>
          <a:xfrm>
            <a:off x="234154" y="1292312"/>
            <a:ext cx="2231999" cy="2149875"/>
          </a:xfrm>
          <a:prstGeom prst="rect">
            <a:avLst/>
          </a:prstGeom>
        </p:spPr>
      </p:pic>
      <p:pic>
        <p:nvPicPr>
          <p:cNvPr id="13" name="Grafik 12"/>
          <p:cNvPicPr>
            <a:picLocks noChangeAspect="1"/>
          </p:cNvPicPr>
          <p:nvPr/>
        </p:nvPicPr>
        <p:blipFill rotWithShape="1">
          <a:blip r:embed="rId3"/>
          <a:srcRect l="12633" r="21951"/>
          <a:stretch/>
        </p:blipFill>
        <p:spPr>
          <a:xfrm>
            <a:off x="4923033" y="1292312"/>
            <a:ext cx="1872000" cy="2149875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4"/>
          <a:srcRect l="12580" r="22003"/>
          <a:stretch/>
        </p:blipFill>
        <p:spPr>
          <a:xfrm>
            <a:off x="2761810" y="1292312"/>
            <a:ext cx="1872000" cy="2149875"/>
          </a:xfrm>
          <a:prstGeom prst="rect">
            <a:avLst/>
          </a:prstGeom>
        </p:spPr>
      </p:pic>
      <p:pic>
        <p:nvPicPr>
          <p:cNvPr id="15" name="Grafik 14"/>
          <p:cNvPicPr>
            <a:picLocks noChangeAspect="1"/>
          </p:cNvPicPr>
          <p:nvPr/>
        </p:nvPicPr>
        <p:blipFill rotWithShape="1">
          <a:blip r:embed="rId5"/>
          <a:srcRect l="12633" r="21951"/>
          <a:stretch/>
        </p:blipFill>
        <p:spPr>
          <a:xfrm>
            <a:off x="7076835" y="1292312"/>
            <a:ext cx="1872000" cy="2149875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930" y="3248100"/>
            <a:ext cx="2325097" cy="9009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810" y="3248100"/>
            <a:ext cx="2325097" cy="900900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8842" y="3248100"/>
            <a:ext cx="2325097" cy="900900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7612" y="3248100"/>
            <a:ext cx="2325097" cy="9009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758" y="4132420"/>
            <a:ext cx="2386418" cy="854832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017" y="4132420"/>
            <a:ext cx="2386418" cy="854832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30926" y="4132420"/>
            <a:ext cx="2386418" cy="854832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76345" y="4132420"/>
            <a:ext cx="2386418" cy="854832"/>
          </a:xfrm>
          <a:prstGeom prst="rect">
            <a:avLst/>
          </a:prstGeom>
        </p:spPr>
      </p:pic>
      <p:sp>
        <p:nvSpPr>
          <p:cNvPr id="20" name="Textfeld 19"/>
          <p:cNvSpPr txBox="1"/>
          <p:nvPr/>
        </p:nvSpPr>
        <p:spPr>
          <a:xfrm>
            <a:off x="1263889" y="861887"/>
            <a:ext cx="40011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smtClean="0"/>
              <a:t>IN</a:t>
            </a:r>
            <a:endParaRPr lang="de-DE" sz="1400" dirty="0"/>
          </a:p>
        </p:txBody>
      </p:sp>
      <p:sp>
        <p:nvSpPr>
          <p:cNvPr id="21" name="Textfeld 20"/>
          <p:cNvSpPr txBox="1"/>
          <p:nvPr/>
        </p:nvSpPr>
        <p:spPr>
          <a:xfrm>
            <a:off x="5414506" y="861887"/>
            <a:ext cx="77024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smtClean="0"/>
              <a:t>OUT</a:t>
            </a:r>
            <a:endParaRPr lang="de-DE" sz="1400" dirty="0"/>
          </a:p>
        </p:txBody>
      </p:sp>
      <p:sp>
        <p:nvSpPr>
          <p:cNvPr id="22" name="Textfeld 21"/>
          <p:cNvSpPr txBox="1"/>
          <p:nvPr/>
        </p:nvSpPr>
        <p:spPr>
          <a:xfrm>
            <a:off x="3036094" y="861887"/>
            <a:ext cx="118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err="1" smtClean="0"/>
              <a:t>NOStim</a:t>
            </a:r>
            <a:r>
              <a:rPr lang="de-DE" sz="1400" dirty="0" smtClean="0"/>
              <a:t>-IN</a:t>
            </a:r>
            <a:endParaRPr lang="de-DE" sz="1400" dirty="0"/>
          </a:p>
        </p:txBody>
      </p:sp>
      <p:sp>
        <p:nvSpPr>
          <p:cNvPr id="23" name="Textfeld 22"/>
          <p:cNvSpPr txBox="1"/>
          <p:nvPr/>
        </p:nvSpPr>
        <p:spPr>
          <a:xfrm>
            <a:off x="7125435" y="861887"/>
            <a:ext cx="1668765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de-DE" sz="1400" dirty="0" err="1" smtClean="0"/>
              <a:t>NOStim</a:t>
            </a:r>
            <a:r>
              <a:rPr lang="de-DE" sz="1400" dirty="0" smtClean="0"/>
              <a:t>-OUT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2259723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</Words>
  <Application>Microsoft Office PowerPoint</Application>
  <PresentationFormat>Bildschirmpräsentation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Hong-Viet Ngo</dc:creator>
  <cp:lastModifiedBy>Hong-Viet V. Ngo</cp:lastModifiedBy>
  <cp:revision>49</cp:revision>
  <dcterms:created xsi:type="dcterms:W3CDTF">2006-08-16T00:00:00Z</dcterms:created>
  <dcterms:modified xsi:type="dcterms:W3CDTF">2017-04-09T13:14:47Z</dcterms:modified>
</cp:coreProperties>
</file>