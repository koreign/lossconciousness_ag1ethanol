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xfrm>
            <a:off x="1270000" y="50292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idx="13"/>
          </p:nvPr>
        </p:nvSpPr>
        <p:spPr>
          <a:xfrm>
            <a:off x="1606550" y="635000"/>
            <a:ext cx="9779000" cy="591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6718300"/>
            <a:ext cx="10464800" cy="1422400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8191500"/>
            <a:ext cx="10464800" cy="11303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311798" y="9245600"/>
            <a:ext cx="368504" cy="3810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635000"/>
            <a:ext cx="5334000" cy="8229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635000"/>
            <a:ext cx="5334000" cy="398780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4762500"/>
            <a:ext cx="5334000" cy="4102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  <a:lvl2pPr marL="0" indent="228600" algn="ctr">
              <a:spcBef>
                <a:spcPts val="0"/>
              </a:spcBef>
              <a:buSzTx/>
              <a:buNone/>
              <a:defRPr sz="3200"/>
            </a:lvl2pPr>
            <a:lvl3pPr marL="0" indent="457200" algn="ctr">
              <a:spcBef>
                <a:spcPts val="0"/>
              </a:spcBef>
              <a:buSzTx/>
              <a:buNone/>
              <a:defRPr sz="3200"/>
            </a:lvl3pPr>
            <a:lvl4pPr marL="0" indent="685800" algn="ctr">
              <a:spcBef>
                <a:spcPts val="0"/>
              </a:spcBef>
              <a:buSzTx/>
              <a:buNone/>
              <a:defRPr sz="3200"/>
            </a:lvl4pPr>
            <a:lvl5pPr marL="0" indent="914400" algn="ctr">
              <a:spcBef>
                <a:spcPts val="0"/>
              </a:spcBef>
              <a:buSzTx/>
              <a:buNone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half" idx="13"/>
          </p:nvPr>
        </p:nvSpPr>
        <p:spPr>
          <a:xfrm>
            <a:off x="6718300" y="2603500"/>
            <a:ext cx="5334000" cy="6286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half" idx="1"/>
          </p:nvPr>
        </p:nvSpPr>
        <p:spPr>
          <a:xfrm>
            <a:off x="952500" y="2603500"/>
            <a:ext cx="5334000" cy="6286500"/>
          </a:xfrm>
          <a:prstGeom prst="rect">
            <a:avLst/>
          </a:prstGeom>
        </p:spPr>
        <p:txBody>
          <a:bodyPr/>
          <a:lstStyle>
            <a:lvl1pPr marL="342900" indent="-342900">
              <a:spcBef>
                <a:spcPts val="3200"/>
              </a:spcBef>
              <a:defRPr sz="2800"/>
            </a:lvl1pPr>
            <a:lvl2pPr marL="685800" indent="-342900">
              <a:spcBef>
                <a:spcPts val="3200"/>
              </a:spcBef>
              <a:defRPr sz="2800"/>
            </a:lvl2pPr>
            <a:lvl3pPr marL="1028700" indent="-342900">
              <a:spcBef>
                <a:spcPts val="3200"/>
              </a:spcBef>
              <a:defRPr sz="2800"/>
            </a:lvl3pPr>
            <a:lvl4pPr marL="1371600" indent="-342900">
              <a:spcBef>
                <a:spcPts val="3200"/>
              </a:spcBef>
              <a:defRPr sz="2800"/>
            </a:lvl4pPr>
            <a:lvl5pPr marL="1714500" indent="-342900">
              <a:spcBef>
                <a:spcPts val="32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1270000"/>
            <a:ext cx="11099800" cy="72136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5092700"/>
            <a:ext cx="5334000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889000"/>
            <a:ext cx="5334001" cy="3771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889000"/>
            <a:ext cx="5334000" cy="7975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6362700"/>
            <a:ext cx="10464800" cy="4699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24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4267200"/>
            <a:ext cx="10464800" cy="6858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0"/>
            <a:ext cx="13004800" cy="9753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952500" y="4445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952500" y="260350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311798" y="9251950"/>
            <a:ext cx="368504" cy="3810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8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36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5"/>
          <p:cNvGrpSpPr/>
          <p:nvPr/>
        </p:nvGrpSpPr>
        <p:grpSpPr>
          <a:xfrm>
            <a:off x="7148172" y="6510135"/>
            <a:ext cx="3873962" cy="307677"/>
            <a:chOff x="0" y="-30847"/>
            <a:chExt cx="3873961" cy="307675"/>
          </a:xfrm>
        </p:grpSpPr>
        <p:sp>
          <p:nvSpPr>
            <p:cNvPr id="119" name="Shape 119"/>
            <p:cNvSpPr/>
            <p:nvPr/>
          </p:nvSpPr>
          <p:spPr>
            <a:xfrm>
              <a:off x="0" y="38407"/>
              <a:ext cx="492228" cy="231782"/>
            </a:xfrm>
            <a:prstGeom prst="rect">
              <a:avLst/>
            </a:prstGeom>
            <a:solidFill>
              <a:srgbClr val="FF26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0" name="Shape 120"/>
            <p:cNvSpPr/>
            <p:nvPr/>
          </p:nvSpPr>
          <p:spPr>
            <a:xfrm>
              <a:off x="1195684" y="38407"/>
              <a:ext cx="492229" cy="231782"/>
            </a:xfrm>
            <a:prstGeom prst="rect">
              <a:avLst/>
            </a:prstGeom>
            <a:solidFill>
              <a:srgbClr val="3FB41D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1" name="Shape 121"/>
            <p:cNvSpPr/>
            <p:nvPr/>
          </p:nvSpPr>
          <p:spPr>
            <a:xfrm>
              <a:off x="2396672" y="38407"/>
              <a:ext cx="492229" cy="23178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2" name="Shape 122"/>
            <p:cNvSpPr/>
            <p:nvPr/>
          </p:nvSpPr>
          <p:spPr>
            <a:xfrm>
              <a:off x="651149" y="-22015"/>
              <a:ext cx="385615" cy="29884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123" name="Shape 123"/>
            <p:cNvSpPr/>
            <p:nvPr/>
          </p:nvSpPr>
          <p:spPr>
            <a:xfrm>
              <a:off x="1745522" y="-30848"/>
              <a:ext cx="582460" cy="30767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124" name="Shape 124"/>
            <p:cNvSpPr/>
            <p:nvPr/>
          </p:nvSpPr>
          <p:spPr>
            <a:xfrm>
              <a:off x="2957591" y="-26068"/>
              <a:ext cx="916371" cy="30289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600"/>
              </a:lvl1pPr>
            </a:lstStyle>
            <a:p>
              <a:pPr/>
              <a:r>
                <a:t>NoSTIM</a:t>
              </a:r>
            </a:p>
          </p:txBody>
        </p:sp>
      </p:grpSp>
      <p:sp>
        <p:nvSpPr>
          <p:cNvPr id="126" name="Shape 126"/>
          <p:cNvSpPr/>
          <p:nvPr/>
        </p:nvSpPr>
        <p:spPr>
          <a:xfrm>
            <a:off x="4770427" y="3317061"/>
            <a:ext cx="558801" cy="406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27" name="Shape 127"/>
          <p:cNvSpPr/>
          <p:nvPr/>
        </p:nvSpPr>
        <p:spPr>
          <a:xfrm>
            <a:off x="8755630" y="3317061"/>
            <a:ext cx="558801" cy="406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</a:t>
            </a:r>
          </a:p>
        </p:txBody>
      </p:sp>
      <p:pic>
        <p:nvPicPr>
          <p:cNvPr id="128" name="boxplot_OPRtg1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5283129" y="3552499"/>
            <a:ext cx="3271444" cy="2821109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Shape 129"/>
          <p:cNvSpPr/>
          <p:nvPr/>
        </p:nvSpPr>
        <p:spPr>
          <a:xfrm>
            <a:off x="5815650" y="4503743"/>
            <a:ext cx="2387980" cy="1"/>
          </a:xfrm>
          <a:prstGeom prst="line">
            <a:avLst/>
          </a:prstGeom>
          <a:ln w="25400">
            <a:solidFill>
              <a:srgbClr val="0000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30" name="Shape 130"/>
          <p:cNvSpPr/>
          <p:nvPr/>
        </p:nvSpPr>
        <p:spPr>
          <a:xfrm rot="16200000">
            <a:off x="4419338" y="4729310"/>
            <a:ext cx="1905601" cy="36030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Preference (%)</a:t>
            </a:r>
          </a:p>
        </p:txBody>
      </p:sp>
      <p:sp>
        <p:nvSpPr>
          <p:cNvPr id="131" name="Shape 131"/>
          <p:cNvSpPr/>
          <p:nvPr/>
        </p:nvSpPr>
        <p:spPr>
          <a:xfrm>
            <a:off x="6164891" y="6002267"/>
            <a:ext cx="1905601" cy="42887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Sampling</a:t>
            </a:r>
          </a:p>
        </p:txBody>
      </p:sp>
      <p:sp>
        <p:nvSpPr>
          <p:cNvPr id="132" name="Shape 132"/>
          <p:cNvSpPr/>
          <p:nvPr/>
        </p:nvSpPr>
        <p:spPr>
          <a:xfrm>
            <a:off x="7676252" y="4694386"/>
            <a:ext cx="1008902" cy="68057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1600"/>
            </a:pPr>
            <a:r>
              <a:t>Chance </a:t>
            </a:r>
          </a:p>
          <a:p>
            <a:pPr>
              <a:defRPr sz="1600"/>
            </a:pPr>
            <a:r>
              <a:t>level</a:t>
            </a:r>
          </a:p>
        </p:txBody>
      </p:sp>
      <p:pic>
        <p:nvPicPr>
          <p:cNvPr id="133" name="boxplot_OPRtg2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9374414" y="3620000"/>
            <a:ext cx="3131409" cy="2700350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Shape 134"/>
          <p:cNvSpPr/>
          <p:nvPr/>
        </p:nvSpPr>
        <p:spPr>
          <a:xfrm>
            <a:off x="10164948" y="5964860"/>
            <a:ext cx="1824030" cy="3723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24H Test</a:t>
            </a:r>
          </a:p>
        </p:txBody>
      </p:sp>
      <p:grpSp>
        <p:nvGrpSpPr>
          <p:cNvPr id="138" name="Group 138"/>
          <p:cNvGrpSpPr/>
          <p:nvPr/>
        </p:nvGrpSpPr>
        <p:grpSpPr>
          <a:xfrm>
            <a:off x="10501426" y="4174266"/>
            <a:ext cx="583008" cy="317861"/>
            <a:chOff x="0" y="0"/>
            <a:chExt cx="583007" cy="317859"/>
          </a:xfrm>
        </p:grpSpPr>
        <p:sp>
          <p:nvSpPr>
            <p:cNvPr id="135" name="Shape 135"/>
            <p:cNvSpPr/>
            <p:nvPr/>
          </p:nvSpPr>
          <p:spPr>
            <a:xfrm>
              <a:off x="0" y="0"/>
              <a:ext cx="583008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36" name="Shape 136"/>
            <p:cNvSpPr/>
            <p:nvPr/>
          </p:nvSpPr>
          <p:spPr>
            <a:xfrm flipH="1">
              <a:off x="8211" y="8211"/>
              <a:ext cx="1" cy="8944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37" name="Shape 137"/>
            <p:cNvSpPr/>
            <p:nvPr/>
          </p:nvSpPr>
          <p:spPr>
            <a:xfrm flipH="1">
              <a:off x="575536" y="0"/>
              <a:ext cx="1" cy="31786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0502167" y="3858316"/>
            <a:ext cx="1149594" cy="686870"/>
            <a:chOff x="0" y="0"/>
            <a:chExt cx="1149592" cy="686869"/>
          </a:xfrm>
        </p:grpSpPr>
        <p:sp>
          <p:nvSpPr>
            <p:cNvPr id="139" name="Shape 139"/>
            <p:cNvSpPr/>
            <p:nvPr/>
          </p:nvSpPr>
          <p:spPr>
            <a:xfrm>
              <a:off x="0" y="8998"/>
              <a:ext cx="1149593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40" name="Shape 140"/>
            <p:cNvSpPr/>
            <p:nvPr/>
          </p:nvSpPr>
          <p:spPr>
            <a:xfrm flipH="1">
              <a:off x="7470" y="0"/>
              <a:ext cx="1" cy="11484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  <p:sp>
          <p:nvSpPr>
            <p:cNvPr id="141" name="Shape 141"/>
            <p:cNvSpPr/>
            <p:nvPr/>
          </p:nvSpPr>
          <p:spPr>
            <a:xfrm flipH="1">
              <a:off x="1142121" y="17209"/>
              <a:ext cx="1" cy="66966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400"/>
              </a:pPr>
            </a:p>
          </p:txBody>
        </p:sp>
      </p:grpSp>
      <p:sp>
        <p:nvSpPr>
          <p:cNvPr id="143" name="Shape 143"/>
          <p:cNvSpPr/>
          <p:nvPr/>
        </p:nvSpPr>
        <p:spPr>
          <a:xfrm>
            <a:off x="10823602" y="3507289"/>
            <a:ext cx="539569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000"/>
            </a:lvl1pPr>
          </a:lstStyle>
          <a:p>
            <a:pPr/>
            <a:r>
              <a:t>**</a:t>
            </a:r>
          </a:p>
        </p:txBody>
      </p:sp>
      <p:sp>
        <p:nvSpPr>
          <p:cNvPr id="144" name="Shape 144"/>
          <p:cNvSpPr/>
          <p:nvPr/>
        </p:nvSpPr>
        <p:spPr>
          <a:xfrm>
            <a:off x="10588031" y="3860310"/>
            <a:ext cx="409798" cy="361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000"/>
            </a:lvl1pPr>
          </a:lstStyle>
          <a:p>
            <a:pPr/>
            <a:r>
              <a:t>*</a:t>
            </a:r>
          </a:p>
        </p:txBody>
      </p:sp>
      <p:sp>
        <p:nvSpPr>
          <p:cNvPr id="145" name="Shape 145"/>
          <p:cNvSpPr/>
          <p:nvPr/>
        </p:nvSpPr>
        <p:spPr>
          <a:xfrm>
            <a:off x="9950505" y="4972966"/>
            <a:ext cx="2285762" cy="1"/>
          </a:xfrm>
          <a:prstGeom prst="line">
            <a:avLst/>
          </a:prstGeom>
          <a:ln w="25400">
            <a:solidFill>
              <a:srgbClr val="000000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46" name="Shape 146"/>
          <p:cNvSpPr/>
          <p:nvPr/>
        </p:nvSpPr>
        <p:spPr>
          <a:xfrm>
            <a:off x="11654828" y="4739462"/>
            <a:ext cx="1035694" cy="1123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>
              <a:defRPr sz="1600"/>
            </a:pPr>
            <a:r>
              <a:t>Chance </a:t>
            </a:r>
          </a:p>
          <a:p>
            <a:pPr>
              <a:defRPr sz="1600"/>
            </a:pPr>
            <a:r>
              <a:t>level</a:t>
            </a:r>
          </a:p>
        </p:txBody>
      </p:sp>
      <p:sp>
        <p:nvSpPr>
          <p:cNvPr id="147" name="Shape 147"/>
          <p:cNvSpPr/>
          <p:nvPr/>
        </p:nvSpPr>
        <p:spPr>
          <a:xfrm flipV="1">
            <a:off x="10193599" y="4524356"/>
            <a:ext cx="1" cy="279187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48" name="Shape 148"/>
          <p:cNvSpPr/>
          <p:nvPr/>
        </p:nvSpPr>
        <p:spPr>
          <a:xfrm flipH="1">
            <a:off x="10189347" y="4527093"/>
            <a:ext cx="109832" cy="1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400"/>
            </a:pPr>
          </a:p>
        </p:txBody>
      </p:sp>
      <p:sp>
        <p:nvSpPr>
          <p:cNvPr id="149" name="Shape 149"/>
          <p:cNvSpPr/>
          <p:nvPr/>
        </p:nvSpPr>
        <p:spPr>
          <a:xfrm>
            <a:off x="9963846" y="4457899"/>
            <a:ext cx="215293" cy="36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3000">
                <a:solidFill>
                  <a:schemeClr val="accent5"/>
                </a:solidFill>
              </a:defRPr>
            </a:lvl1pPr>
          </a:lstStyle>
          <a:p>
            <a:pPr/>
            <a:r>
              <a:t>*</a:t>
            </a:r>
          </a:p>
        </p:txBody>
      </p:sp>
      <p:pic>
        <p:nvPicPr>
          <p:cNvPr id="150" name="Figure1-Charles.pdf"/>
          <p:cNvPicPr>
            <a:picLocks noChangeAspect="1"/>
          </p:cNvPicPr>
          <p:nvPr/>
        </p:nvPicPr>
        <p:blipFill>
          <a:blip r:embed="rId4">
            <a:extLst/>
          </a:blip>
          <a:srcRect l="0" t="25986" r="58647" b="53297"/>
          <a:stretch>
            <a:fillRect/>
          </a:stretch>
        </p:blipFill>
        <p:spPr>
          <a:xfrm>
            <a:off x="314278" y="4072448"/>
            <a:ext cx="4588126" cy="2000549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Shape 151"/>
          <p:cNvSpPr/>
          <p:nvPr/>
        </p:nvSpPr>
        <p:spPr>
          <a:xfrm>
            <a:off x="422246" y="3371243"/>
            <a:ext cx="409798" cy="4064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52" name="Shape 152"/>
          <p:cNvSpPr/>
          <p:nvPr/>
        </p:nvSpPr>
        <p:spPr>
          <a:xfrm>
            <a:off x="694630" y="4077644"/>
            <a:ext cx="1238358" cy="43518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Sampling</a:t>
            </a:r>
          </a:p>
        </p:txBody>
      </p:sp>
      <p:sp>
        <p:nvSpPr>
          <p:cNvPr id="153" name="Shape 153"/>
          <p:cNvSpPr/>
          <p:nvPr/>
        </p:nvSpPr>
        <p:spPr>
          <a:xfrm>
            <a:off x="2068266" y="4094163"/>
            <a:ext cx="1201182" cy="40215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Retention</a:t>
            </a:r>
          </a:p>
        </p:txBody>
      </p:sp>
      <p:sp>
        <p:nvSpPr>
          <p:cNvPr id="154" name="Shape 154"/>
          <p:cNvSpPr/>
          <p:nvPr/>
        </p:nvSpPr>
        <p:spPr>
          <a:xfrm>
            <a:off x="3404727" y="4092507"/>
            <a:ext cx="1020944" cy="4054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Test</a:t>
            </a:r>
          </a:p>
        </p:txBody>
      </p:sp>
      <p:sp>
        <p:nvSpPr>
          <p:cNvPr id="155" name="Shape 155"/>
          <p:cNvSpPr/>
          <p:nvPr/>
        </p:nvSpPr>
        <p:spPr>
          <a:xfrm rot="16200000">
            <a:off x="8054222" y="4576176"/>
            <a:ext cx="2821109" cy="3429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600"/>
            </a:lvl1pPr>
          </a:lstStyle>
          <a:p>
            <a:pPr/>
            <a:r>
              <a:t>Delta Preference (%)</a:t>
            </a:r>
          </a:p>
        </p:txBody>
      </p:sp>
      <p:sp>
        <p:nvSpPr>
          <p:cNvPr id="156" name="Shape 156"/>
          <p:cNvSpPr/>
          <p:nvPr/>
        </p:nvSpPr>
        <p:spPr>
          <a:xfrm>
            <a:off x="3921113" y="5727343"/>
            <a:ext cx="1020945" cy="4054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Time</a:t>
            </a:r>
          </a:p>
        </p:txBody>
      </p:sp>
      <p:sp>
        <p:nvSpPr>
          <p:cNvPr id="157" name="Shape 157"/>
          <p:cNvSpPr/>
          <p:nvPr/>
        </p:nvSpPr>
        <p:spPr>
          <a:xfrm>
            <a:off x="3240685" y="5693091"/>
            <a:ext cx="583008" cy="3723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8:30</a:t>
            </a:r>
          </a:p>
        </p:txBody>
      </p:sp>
      <p:sp>
        <p:nvSpPr>
          <p:cNvPr id="158" name="Shape 158"/>
          <p:cNvSpPr/>
          <p:nvPr/>
        </p:nvSpPr>
        <p:spPr>
          <a:xfrm>
            <a:off x="2127971" y="5693091"/>
            <a:ext cx="732315" cy="3723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15:00</a:t>
            </a:r>
          </a:p>
        </p:txBody>
      </p:sp>
      <p:sp>
        <p:nvSpPr>
          <p:cNvPr id="159" name="Shape 159"/>
          <p:cNvSpPr/>
          <p:nvPr/>
        </p:nvSpPr>
        <p:spPr>
          <a:xfrm>
            <a:off x="1488657" y="5693091"/>
            <a:ext cx="732315" cy="3723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9:00</a:t>
            </a:r>
          </a:p>
        </p:txBody>
      </p:sp>
      <p:sp>
        <p:nvSpPr>
          <p:cNvPr id="160" name="Shape 160"/>
          <p:cNvSpPr/>
          <p:nvPr/>
        </p:nvSpPr>
        <p:spPr>
          <a:xfrm>
            <a:off x="539913" y="5693091"/>
            <a:ext cx="732315" cy="37236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/>
            </a:lvl1pPr>
          </a:lstStyle>
          <a:p>
            <a:pPr/>
            <a:r>
              <a:t>8:30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