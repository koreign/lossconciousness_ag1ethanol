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SUBfig5a.pdf"/>
          <p:cNvPicPr>
            <a:picLocks noChangeAspect="0"/>
          </p:cNvPicPr>
          <p:nvPr/>
        </p:nvPicPr>
        <p:blipFill>
          <a:blip r:embed="rId2">
            <a:extLst/>
          </a:blip>
          <a:srcRect l="10766" t="0" r="10766" b="0"/>
          <a:stretch>
            <a:fillRect/>
          </a:stretch>
        </p:blipFill>
        <p:spPr>
          <a:xfrm>
            <a:off x="1511792" y="1092681"/>
            <a:ext cx="3837081" cy="3667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boxplot_FCtg_FIg5e1.png"/>
          <p:cNvPicPr>
            <a:picLocks noChangeAspect="1"/>
          </p:cNvPicPr>
          <p:nvPr/>
        </p:nvPicPr>
        <p:blipFill>
          <a:blip r:embed="rId3">
            <a:extLst/>
          </a:blip>
          <a:srcRect l="0" t="3921" r="0" b="3921"/>
          <a:stretch>
            <a:fillRect/>
          </a:stretch>
        </p:blipFill>
        <p:spPr>
          <a:xfrm>
            <a:off x="2264751" y="5312713"/>
            <a:ext cx="2800157" cy="34876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boxplot_FCtg_FIg5d_1.png"/>
          <p:cNvPicPr>
            <a:picLocks noChangeAspect="1"/>
          </p:cNvPicPr>
          <p:nvPr/>
        </p:nvPicPr>
        <p:blipFill>
          <a:blip r:embed="rId4">
            <a:extLst/>
          </a:blip>
          <a:srcRect l="0" t="3308" r="0" b="3308"/>
          <a:stretch>
            <a:fillRect/>
          </a:stretch>
        </p:blipFill>
        <p:spPr>
          <a:xfrm>
            <a:off x="8840952" y="1006358"/>
            <a:ext cx="2800157" cy="35340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boxplot_FCtg_FIg5c.png"/>
          <p:cNvPicPr>
            <a:picLocks noChangeAspect="1"/>
          </p:cNvPicPr>
          <p:nvPr/>
        </p:nvPicPr>
        <p:blipFill>
          <a:blip r:embed="rId5">
            <a:extLst/>
          </a:blip>
          <a:srcRect l="0" t="826" r="0" b="7015"/>
          <a:stretch>
            <a:fillRect/>
          </a:stretch>
        </p:blipFill>
        <p:spPr>
          <a:xfrm>
            <a:off x="5699409" y="895274"/>
            <a:ext cx="2800157" cy="348764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1" name="Group 131"/>
          <p:cNvGrpSpPr/>
          <p:nvPr/>
        </p:nvGrpSpPr>
        <p:grpSpPr>
          <a:xfrm>
            <a:off x="7055447" y="4245790"/>
            <a:ext cx="4271227" cy="716826"/>
            <a:chOff x="16037" y="0"/>
            <a:chExt cx="4271226" cy="716824"/>
          </a:xfrm>
        </p:grpSpPr>
        <p:sp>
          <p:nvSpPr>
            <p:cNvPr id="123" name="Shape 123"/>
            <p:cNvSpPr/>
            <p:nvPr/>
          </p:nvSpPr>
          <p:spPr>
            <a:xfrm>
              <a:off x="16037" y="442071"/>
              <a:ext cx="409204" cy="171222"/>
            </a:xfrm>
            <a:prstGeom prst="rect">
              <a:avLst/>
            </a:prstGeom>
            <a:solidFill>
              <a:srgbClr val="FFAE6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4" name="Shape 124"/>
            <p:cNvSpPr/>
            <p:nvPr/>
          </p:nvSpPr>
          <p:spPr>
            <a:xfrm>
              <a:off x="16037" y="109039"/>
              <a:ext cx="409204" cy="171222"/>
            </a:xfrm>
            <a:prstGeom prst="rect">
              <a:avLst/>
            </a:pr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Shape 125"/>
            <p:cNvSpPr/>
            <p:nvPr/>
          </p:nvSpPr>
          <p:spPr>
            <a:xfrm>
              <a:off x="521242" y="5507"/>
              <a:ext cx="1230910" cy="3782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26" name="Shape 126"/>
            <p:cNvSpPr/>
            <p:nvPr/>
          </p:nvSpPr>
          <p:spPr>
            <a:xfrm>
              <a:off x="521242" y="333032"/>
              <a:ext cx="1230910" cy="3782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127" name="Shape 127"/>
            <p:cNvSpPr/>
            <p:nvPr/>
          </p:nvSpPr>
          <p:spPr>
            <a:xfrm>
              <a:off x="2298634" y="114546"/>
              <a:ext cx="409204" cy="171222"/>
            </a:xfrm>
            <a:prstGeom prst="rect">
              <a:avLst/>
            </a:prstGeom>
            <a:solidFill>
              <a:srgbClr val="3FB41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Shape 128"/>
            <p:cNvSpPr/>
            <p:nvPr/>
          </p:nvSpPr>
          <p:spPr>
            <a:xfrm>
              <a:off x="2298634" y="442071"/>
              <a:ext cx="409204" cy="171222"/>
            </a:xfrm>
            <a:prstGeom prst="rect">
              <a:avLst/>
            </a:prstGeom>
            <a:solidFill>
              <a:srgbClr val="67FB9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Shape 129"/>
            <p:cNvSpPr/>
            <p:nvPr/>
          </p:nvSpPr>
          <p:spPr>
            <a:xfrm>
              <a:off x="2803839" y="0"/>
              <a:ext cx="1230910" cy="378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30" name="Shape 130"/>
            <p:cNvSpPr/>
            <p:nvPr/>
          </p:nvSpPr>
          <p:spPr>
            <a:xfrm>
              <a:off x="2803839" y="338539"/>
              <a:ext cx="1483425" cy="378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NoSTIM-OUT</a:t>
              </a:r>
            </a:p>
          </p:txBody>
        </p:sp>
      </p:grpSp>
      <p:sp>
        <p:nvSpPr>
          <p:cNvPr id="132" name="Shape 132"/>
          <p:cNvSpPr/>
          <p:nvPr/>
        </p:nvSpPr>
        <p:spPr>
          <a:xfrm rot="16200000">
            <a:off x="4492705" y="2467692"/>
            <a:ext cx="2688224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incidence rate (%)</a:t>
            </a:r>
          </a:p>
        </p:txBody>
      </p:sp>
      <p:sp>
        <p:nvSpPr>
          <p:cNvPr id="133" name="Shape 133"/>
          <p:cNvSpPr/>
          <p:nvPr/>
        </p:nvSpPr>
        <p:spPr>
          <a:xfrm>
            <a:off x="5276384" y="657850"/>
            <a:ext cx="29773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34" name="Shape 134"/>
          <p:cNvSpPr/>
          <p:nvPr/>
        </p:nvSpPr>
        <p:spPr>
          <a:xfrm rot="16200000">
            <a:off x="7142330" y="2347043"/>
            <a:ext cx="338626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Co-occurring Spindle-Ripple incidence rate (%)</a:t>
            </a:r>
          </a:p>
        </p:txBody>
      </p:sp>
      <p:sp>
        <p:nvSpPr>
          <p:cNvPr id="135" name="Shape 135"/>
          <p:cNvSpPr/>
          <p:nvPr/>
        </p:nvSpPr>
        <p:spPr>
          <a:xfrm>
            <a:off x="10098471" y="689600"/>
            <a:ext cx="652507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36" name="Shape 136"/>
          <p:cNvSpPr/>
          <p:nvPr/>
        </p:nvSpPr>
        <p:spPr>
          <a:xfrm>
            <a:off x="3454639" y="4925954"/>
            <a:ext cx="652507" cy="3235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37" name="Shape 137"/>
          <p:cNvSpPr/>
          <p:nvPr/>
        </p:nvSpPr>
        <p:spPr>
          <a:xfrm>
            <a:off x="1363497" y="657850"/>
            <a:ext cx="29773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</a:t>
            </a:r>
          </a:p>
        </p:txBody>
      </p:sp>
      <p:grpSp>
        <p:nvGrpSpPr>
          <p:cNvPr id="148" name="Group 148"/>
          <p:cNvGrpSpPr/>
          <p:nvPr/>
        </p:nvGrpSpPr>
        <p:grpSpPr>
          <a:xfrm>
            <a:off x="3323947" y="5299035"/>
            <a:ext cx="992967" cy="1616498"/>
            <a:chOff x="0" y="0"/>
            <a:chExt cx="992965" cy="1616497"/>
          </a:xfrm>
        </p:grpSpPr>
        <p:sp>
          <p:nvSpPr>
            <p:cNvPr id="138" name="Shape 138"/>
            <p:cNvSpPr/>
            <p:nvPr/>
          </p:nvSpPr>
          <p:spPr>
            <a:xfrm>
              <a:off x="37724" y="350054"/>
              <a:ext cx="514233" cy="3120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</a:t>
              </a:r>
            </a:p>
          </p:txBody>
        </p:sp>
        <p:grpSp>
          <p:nvGrpSpPr>
            <p:cNvPr id="142" name="Group 142"/>
            <p:cNvGrpSpPr/>
            <p:nvPr/>
          </p:nvGrpSpPr>
          <p:grpSpPr>
            <a:xfrm>
              <a:off x="2854" y="664317"/>
              <a:ext cx="495074" cy="952181"/>
              <a:chOff x="5368" y="0"/>
              <a:chExt cx="495073" cy="952179"/>
            </a:xfrm>
          </p:grpSpPr>
          <p:sp>
            <p:nvSpPr>
              <p:cNvPr id="139" name="Shape 139"/>
              <p:cNvSpPr/>
              <p:nvPr/>
            </p:nvSpPr>
            <p:spPr>
              <a:xfrm flipV="1">
                <a:off x="12700" y="5368"/>
                <a:ext cx="48766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0" name="Shape 140"/>
              <p:cNvSpPr/>
              <p:nvPr/>
            </p:nvSpPr>
            <p:spPr>
              <a:xfrm flipH="1">
                <a:off x="5368" y="0"/>
                <a:ext cx="1" cy="10174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1" name="Shape 141"/>
              <p:cNvSpPr/>
              <p:nvPr/>
            </p:nvSpPr>
            <p:spPr>
              <a:xfrm flipH="1">
                <a:off x="500441" y="4864"/>
                <a:ext cx="1" cy="94731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0" y="328908"/>
              <a:ext cx="992966" cy="871101"/>
              <a:chOff x="-108652" y="0"/>
              <a:chExt cx="992965" cy="871100"/>
            </a:xfrm>
          </p:grpSpPr>
          <p:sp>
            <p:nvSpPr>
              <p:cNvPr id="143" name="Shape 143"/>
              <p:cNvSpPr/>
              <p:nvPr/>
            </p:nvSpPr>
            <p:spPr>
              <a:xfrm>
                <a:off x="-101600" y="5647"/>
                <a:ext cx="985914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4" name="Shape 144"/>
              <p:cNvSpPr/>
              <p:nvPr/>
            </p:nvSpPr>
            <p:spPr>
              <a:xfrm flipH="1">
                <a:off x="-108653" y="0"/>
                <a:ext cx="1" cy="10703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5" name="Shape 145"/>
              <p:cNvSpPr/>
              <p:nvPr/>
            </p:nvSpPr>
            <p:spPr>
              <a:xfrm flipH="1">
                <a:off x="878107" y="5927"/>
                <a:ext cx="1" cy="86517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47" name="Shape 147"/>
            <p:cNvSpPr/>
            <p:nvPr/>
          </p:nvSpPr>
          <p:spPr>
            <a:xfrm>
              <a:off x="164950" y="0"/>
              <a:ext cx="514233" cy="312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</a:t>
              </a:r>
            </a:p>
          </p:txBody>
        </p:sp>
      </p:grpSp>
      <p:pic>
        <p:nvPicPr>
          <p:cNvPr id="149" name="boxplot_FCtg_CohFROPARCA1SpindleRipples.png"/>
          <p:cNvPicPr>
            <a:picLocks noChangeAspect="1"/>
          </p:cNvPicPr>
          <p:nvPr/>
        </p:nvPicPr>
        <p:blipFill>
          <a:blip r:embed="rId6">
            <a:extLst/>
          </a:blip>
          <a:srcRect l="189" t="0" r="189" b="0"/>
          <a:stretch>
            <a:fillRect/>
          </a:stretch>
        </p:blipFill>
        <p:spPr>
          <a:xfrm>
            <a:off x="5238645" y="5146178"/>
            <a:ext cx="6363221" cy="3689113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hape 150"/>
          <p:cNvSpPr/>
          <p:nvPr/>
        </p:nvSpPr>
        <p:spPr>
          <a:xfrm>
            <a:off x="8265261" y="657850"/>
            <a:ext cx="29773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51" name="Shape 151"/>
          <p:cNvSpPr/>
          <p:nvPr/>
        </p:nvSpPr>
        <p:spPr>
          <a:xfrm>
            <a:off x="6902491" y="689600"/>
            <a:ext cx="652506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CA1</a:t>
            </a:r>
          </a:p>
        </p:txBody>
      </p:sp>
      <p:sp>
        <p:nvSpPr>
          <p:cNvPr id="152" name="Shape 152"/>
          <p:cNvSpPr/>
          <p:nvPr/>
        </p:nvSpPr>
        <p:spPr>
          <a:xfrm>
            <a:off x="4392231" y="1870630"/>
            <a:ext cx="1230910" cy="3782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 EEG</a:t>
            </a:r>
          </a:p>
        </p:txBody>
      </p:sp>
      <p:grpSp>
        <p:nvGrpSpPr>
          <p:cNvPr id="168" name="Group 168"/>
          <p:cNvGrpSpPr/>
          <p:nvPr/>
        </p:nvGrpSpPr>
        <p:grpSpPr>
          <a:xfrm>
            <a:off x="9736190" y="1259162"/>
            <a:ext cx="1230910" cy="1494237"/>
            <a:chOff x="0" y="-12700"/>
            <a:chExt cx="1230909" cy="1494235"/>
          </a:xfrm>
        </p:grpSpPr>
        <p:grpSp>
          <p:nvGrpSpPr>
            <p:cNvPr id="156" name="Group 156"/>
            <p:cNvGrpSpPr/>
            <p:nvPr/>
          </p:nvGrpSpPr>
          <p:grpSpPr>
            <a:xfrm>
              <a:off x="85517" y="331477"/>
              <a:ext cx="401108" cy="158592"/>
              <a:chOff x="0" y="-2808"/>
              <a:chExt cx="401106" cy="158591"/>
            </a:xfrm>
          </p:grpSpPr>
          <p:sp>
            <p:nvSpPr>
              <p:cNvPr id="153" name="Shape 153"/>
              <p:cNvSpPr/>
              <p:nvPr/>
            </p:nvSpPr>
            <p:spPr>
              <a:xfrm>
                <a:off x="-1" y="5973"/>
                <a:ext cx="3981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4" name="Shape 154"/>
              <p:cNvSpPr/>
              <p:nvPr/>
            </p:nvSpPr>
            <p:spPr>
              <a:xfrm flipH="1">
                <a:off x="5973" y="0"/>
                <a:ext cx="1" cy="113208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5" name="Shape 155"/>
              <p:cNvSpPr/>
              <p:nvPr/>
            </p:nvSpPr>
            <p:spPr>
              <a:xfrm flipH="1">
                <a:off x="401106" y="-2809"/>
                <a:ext cx="1" cy="15859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57" name="Shape 157"/>
            <p:cNvSpPr/>
            <p:nvPr/>
          </p:nvSpPr>
          <p:spPr>
            <a:xfrm>
              <a:off x="0" y="-12700"/>
              <a:ext cx="572143" cy="3471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grpSp>
          <p:nvGrpSpPr>
            <p:cNvPr id="161" name="Group 161"/>
            <p:cNvGrpSpPr/>
            <p:nvPr/>
          </p:nvGrpSpPr>
          <p:grpSpPr>
            <a:xfrm>
              <a:off x="82748" y="754783"/>
              <a:ext cx="744747" cy="243719"/>
              <a:chOff x="-282604" y="-2808"/>
              <a:chExt cx="744746" cy="243718"/>
            </a:xfrm>
          </p:grpSpPr>
          <p:sp>
            <p:nvSpPr>
              <p:cNvPr id="158" name="Shape 158"/>
              <p:cNvSpPr/>
              <p:nvPr/>
            </p:nvSpPr>
            <p:spPr>
              <a:xfrm>
                <a:off x="-282605" y="5973"/>
                <a:ext cx="74474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9" name="Shape 159"/>
              <p:cNvSpPr/>
              <p:nvPr/>
            </p:nvSpPr>
            <p:spPr>
              <a:xfrm flipH="1">
                <a:off x="-276632" y="0"/>
                <a:ext cx="1" cy="21509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0" name="Shape 160"/>
              <p:cNvSpPr/>
              <p:nvPr/>
            </p:nvSpPr>
            <p:spPr>
              <a:xfrm>
                <a:off x="457627" y="-2809"/>
                <a:ext cx="1" cy="24371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62" name="Shape 162"/>
            <p:cNvSpPr/>
            <p:nvPr/>
          </p:nvSpPr>
          <p:spPr>
            <a:xfrm>
              <a:off x="169050" y="408512"/>
              <a:ext cx="572144" cy="3471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***</a:t>
              </a:r>
            </a:p>
          </p:txBody>
        </p:sp>
        <p:grpSp>
          <p:nvGrpSpPr>
            <p:cNvPr id="166" name="Group 166"/>
            <p:cNvGrpSpPr/>
            <p:nvPr/>
          </p:nvGrpSpPr>
          <p:grpSpPr>
            <a:xfrm>
              <a:off x="486163" y="1237817"/>
              <a:ext cx="744747" cy="243719"/>
              <a:chOff x="-282604" y="-2808"/>
              <a:chExt cx="744746" cy="243718"/>
            </a:xfrm>
          </p:grpSpPr>
          <p:sp>
            <p:nvSpPr>
              <p:cNvPr id="163" name="Shape 163"/>
              <p:cNvSpPr/>
              <p:nvPr/>
            </p:nvSpPr>
            <p:spPr>
              <a:xfrm>
                <a:off x="-282605" y="5973"/>
                <a:ext cx="74474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4" name="Shape 164"/>
              <p:cNvSpPr/>
              <p:nvPr/>
            </p:nvSpPr>
            <p:spPr>
              <a:xfrm flipH="1">
                <a:off x="-276632" y="0"/>
                <a:ext cx="1" cy="21509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5" name="Shape 165"/>
              <p:cNvSpPr/>
              <p:nvPr/>
            </p:nvSpPr>
            <p:spPr>
              <a:xfrm>
                <a:off x="457627" y="-2809"/>
                <a:ext cx="1" cy="243719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67" name="Shape 167"/>
            <p:cNvSpPr/>
            <p:nvPr/>
          </p:nvSpPr>
          <p:spPr>
            <a:xfrm>
              <a:off x="544204" y="900377"/>
              <a:ext cx="572144" cy="3471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/>
              <a:r>
                <a:t>*</a:t>
              </a:r>
            </a:p>
          </p:txBody>
        </p:sp>
      </p:grpSp>
      <p:sp>
        <p:nvSpPr>
          <p:cNvPr id="169" name="Shape 169"/>
          <p:cNvSpPr/>
          <p:nvPr/>
        </p:nvSpPr>
        <p:spPr>
          <a:xfrm rot="16200000">
            <a:off x="426494" y="6764482"/>
            <a:ext cx="3667523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On-line detected SO co-occurring with spindle and ripples (%)</a:t>
            </a:r>
          </a:p>
        </p:txBody>
      </p:sp>
      <p:sp>
        <p:nvSpPr>
          <p:cNvPr id="170" name="Shape 170"/>
          <p:cNvSpPr/>
          <p:nvPr/>
        </p:nvSpPr>
        <p:spPr>
          <a:xfrm>
            <a:off x="1793477" y="4884530"/>
            <a:ext cx="29773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71" name="Shape 171"/>
          <p:cNvSpPr/>
          <p:nvPr/>
        </p:nvSpPr>
        <p:spPr>
          <a:xfrm rot="16200000">
            <a:off x="3756536" y="6698554"/>
            <a:ext cx="3667523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Cross-regional spindles co-occurring with slow oscillations and ripples (%)</a:t>
            </a:r>
          </a:p>
        </p:txBody>
      </p:sp>
      <p:sp>
        <p:nvSpPr>
          <p:cNvPr id="172" name="Shape 172"/>
          <p:cNvSpPr/>
          <p:nvPr/>
        </p:nvSpPr>
        <p:spPr>
          <a:xfrm>
            <a:off x="5292776" y="4884530"/>
            <a:ext cx="28371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73" name="Shape 173"/>
          <p:cNvSpPr/>
          <p:nvPr/>
        </p:nvSpPr>
        <p:spPr>
          <a:xfrm>
            <a:off x="7373398" y="8377253"/>
            <a:ext cx="1186954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 &amp; CA1</a:t>
            </a:r>
          </a:p>
        </p:txBody>
      </p:sp>
      <p:sp>
        <p:nvSpPr>
          <p:cNvPr id="174" name="Shape 174"/>
          <p:cNvSpPr/>
          <p:nvPr/>
        </p:nvSpPr>
        <p:spPr>
          <a:xfrm>
            <a:off x="6049420" y="8377253"/>
            <a:ext cx="1194496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 &amp; PAR</a:t>
            </a:r>
          </a:p>
        </p:txBody>
      </p:sp>
      <p:sp>
        <p:nvSpPr>
          <p:cNvPr id="175" name="Shape 175"/>
          <p:cNvSpPr/>
          <p:nvPr/>
        </p:nvSpPr>
        <p:spPr>
          <a:xfrm>
            <a:off x="8610631" y="8377253"/>
            <a:ext cx="1160860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PAR &amp; CA1</a:t>
            </a:r>
          </a:p>
        </p:txBody>
      </p:sp>
      <p:sp>
        <p:nvSpPr>
          <p:cNvPr id="176" name="Shape 176"/>
          <p:cNvSpPr/>
          <p:nvPr/>
        </p:nvSpPr>
        <p:spPr>
          <a:xfrm>
            <a:off x="10006341" y="8377253"/>
            <a:ext cx="614959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Triple</a:t>
            </a:r>
          </a:p>
        </p:txBody>
      </p:sp>
      <p:grpSp>
        <p:nvGrpSpPr>
          <p:cNvPr id="183" name="Group 183"/>
          <p:cNvGrpSpPr/>
          <p:nvPr/>
        </p:nvGrpSpPr>
        <p:grpSpPr>
          <a:xfrm>
            <a:off x="4514696" y="8729726"/>
            <a:ext cx="3975409" cy="383794"/>
            <a:chOff x="0" y="8261"/>
            <a:chExt cx="3975408" cy="383793"/>
          </a:xfrm>
        </p:grpSpPr>
        <p:sp>
          <p:nvSpPr>
            <p:cNvPr id="177" name="Shape 177"/>
            <p:cNvSpPr/>
            <p:nvPr/>
          </p:nvSpPr>
          <p:spPr>
            <a:xfrm>
              <a:off x="0" y="111793"/>
              <a:ext cx="409203" cy="171223"/>
            </a:xfrm>
            <a:prstGeom prst="rect">
              <a:avLst/>
            </a:pr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Shape 178"/>
            <p:cNvSpPr/>
            <p:nvPr/>
          </p:nvSpPr>
          <p:spPr>
            <a:xfrm>
              <a:off x="505204" y="8261"/>
              <a:ext cx="394242" cy="3782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79" name="Shape 179"/>
            <p:cNvSpPr/>
            <p:nvPr/>
          </p:nvSpPr>
          <p:spPr>
            <a:xfrm>
              <a:off x="1058157" y="117301"/>
              <a:ext cx="409204" cy="171222"/>
            </a:xfrm>
            <a:prstGeom prst="rect">
              <a:avLst/>
            </a:prstGeom>
            <a:solidFill>
              <a:srgbClr val="3FB41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0" name="Shape 180"/>
            <p:cNvSpPr/>
            <p:nvPr/>
          </p:nvSpPr>
          <p:spPr>
            <a:xfrm>
              <a:off x="1563362" y="13769"/>
              <a:ext cx="636480" cy="378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81" name="Shape 181"/>
            <p:cNvSpPr/>
            <p:nvPr/>
          </p:nvSpPr>
          <p:spPr>
            <a:xfrm>
              <a:off x="2295843" y="117301"/>
              <a:ext cx="409204" cy="17122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Shape 182"/>
            <p:cNvSpPr/>
            <p:nvPr/>
          </p:nvSpPr>
          <p:spPr>
            <a:xfrm>
              <a:off x="2744498" y="8261"/>
              <a:ext cx="1230911" cy="3782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1600"/>
              </a:lvl1pPr>
            </a:lstStyle>
            <a:p>
              <a:pPr/>
              <a:r>
                <a:t>NoSTIM</a:t>
              </a:r>
            </a:p>
          </p:txBody>
        </p:sp>
      </p:grpSp>
      <p:sp>
        <p:nvSpPr>
          <p:cNvPr id="184" name="Shape 184"/>
          <p:cNvSpPr/>
          <p:nvPr/>
        </p:nvSpPr>
        <p:spPr>
          <a:xfrm>
            <a:off x="7508116" y="5897108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***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612946" y="6203921"/>
            <a:ext cx="304574" cy="952181"/>
            <a:chOff x="5368" y="0"/>
            <a:chExt cx="304573" cy="952179"/>
          </a:xfrm>
        </p:grpSpPr>
        <p:sp>
          <p:nvSpPr>
            <p:cNvPr id="185" name="Shape 185"/>
            <p:cNvSpPr/>
            <p:nvPr/>
          </p:nvSpPr>
          <p:spPr>
            <a:xfrm flipV="1">
              <a:off x="12700" y="5368"/>
              <a:ext cx="29716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6" name="Shape 186"/>
            <p:cNvSpPr/>
            <p:nvPr/>
          </p:nvSpPr>
          <p:spPr>
            <a:xfrm flipH="1">
              <a:off x="5368" y="0"/>
              <a:ext cx="1" cy="1017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7" name="Shape 187"/>
            <p:cNvSpPr/>
            <p:nvPr/>
          </p:nvSpPr>
          <p:spPr>
            <a:xfrm flipH="1">
              <a:off x="309941" y="4864"/>
              <a:ext cx="1" cy="9473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7610092" y="5792312"/>
            <a:ext cx="637366" cy="1290201"/>
            <a:chOff x="-108652" y="0"/>
            <a:chExt cx="637365" cy="1290200"/>
          </a:xfrm>
        </p:grpSpPr>
        <p:sp>
          <p:nvSpPr>
            <p:cNvPr id="189" name="Shape 189"/>
            <p:cNvSpPr/>
            <p:nvPr/>
          </p:nvSpPr>
          <p:spPr>
            <a:xfrm>
              <a:off x="-101600" y="5647"/>
              <a:ext cx="63031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0" name="Shape 190"/>
            <p:cNvSpPr/>
            <p:nvPr/>
          </p:nvSpPr>
          <p:spPr>
            <a:xfrm flipH="1">
              <a:off x="-108653" y="0"/>
              <a:ext cx="1" cy="10703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1" name="Shape 191"/>
            <p:cNvSpPr/>
            <p:nvPr/>
          </p:nvSpPr>
          <p:spPr>
            <a:xfrm flipH="1">
              <a:off x="522507" y="5927"/>
              <a:ext cx="1" cy="128427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93" name="Shape 193"/>
          <p:cNvSpPr/>
          <p:nvPr/>
        </p:nvSpPr>
        <p:spPr>
          <a:xfrm>
            <a:off x="7671659" y="5463404"/>
            <a:ext cx="514233" cy="31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600"/>
            </a:lvl1pPr>
          </a:lstStyle>
          <a:p>
            <a:pPr/>
            <a:r>
              <a:t>**</a:t>
            </a:r>
          </a:p>
        </p:txBody>
      </p:sp>
      <p:sp>
        <p:nvSpPr>
          <p:cNvPr id="194" name="Shape 194"/>
          <p:cNvSpPr/>
          <p:nvPr/>
        </p:nvSpPr>
        <p:spPr>
          <a:xfrm>
            <a:off x="4430365" y="2584301"/>
            <a:ext cx="1230910" cy="3782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CA1 LFP</a:t>
            </a:r>
          </a:p>
        </p:txBody>
      </p:sp>
      <p:sp>
        <p:nvSpPr>
          <p:cNvPr id="195" name="Shape 195"/>
          <p:cNvSpPr/>
          <p:nvPr/>
        </p:nvSpPr>
        <p:spPr>
          <a:xfrm>
            <a:off x="4110882" y="2812614"/>
            <a:ext cx="1230911" cy="32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(100-250 Hz)</a:t>
            </a:r>
          </a:p>
        </p:txBody>
      </p:sp>
      <p:sp>
        <p:nvSpPr>
          <p:cNvPr id="196" name="Shape 196"/>
          <p:cNvSpPr/>
          <p:nvPr/>
        </p:nvSpPr>
        <p:spPr>
          <a:xfrm>
            <a:off x="1472442" y="2901514"/>
            <a:ext cx="342901" cy="32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1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1s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