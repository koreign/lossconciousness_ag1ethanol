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Shape 21"/>
          <p:cNvSpPr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/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pic" sz="half" idx="13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Shape 39"/>
          <p:cNvSpPr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Shape 40"/>
          <p:cNvSpPr/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hape 4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Shape 57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pic" sz="half" idx="13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Shape 6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hape 67"/>
          <p:cNvSpPr/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Shape 84"/>
          <p:cNvSpPr/>
          <p:nvPr>
            <p:ph type="pic" sz="quarter" idx="14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Shape 85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hape 8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body" sz="quarter" idx="13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Shape 94"/>
          <p:cNvSpPr/>
          <p:nvPr>
            <p:ph type="body" sz="quarter" idx="14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hape 9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hape 10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SpindleTrace_charles.pdf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961967" y="191080"/>
            <a:ext cx="11080703" cy="8778581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Shape 120"/>
          <p:cNvSpPr/>
          <p:nvPr/>
        </p:nvSpPr>
        <p:spPr>
          <a:xfrm>
            <a:off x="1293531" y="417070"/>
            <a:ext cx="241471" cy="2426896"/>
          </a:xfrm>
          <a:prstGeom prst="rect">
            <a:avLst/>
          </a:prstGeom>
          <a:ln w="12700">
            <a:solidFill>
              <a:schemeClr val="accent5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1" name="Shape 121"/>
          <p:cNvSpPr/>
          <p:nvPr/>
        </p:nvSpPr>
        <p:spPr>
          <a:xfrm>
            <a:off x="3108356" y="417070"/>
            <a:ext cx="374014" cy="2426896"/>
          </a:xfrm>
          <a:prstGeom prst="rect">
            <a:avLst/>
          </a:prstGeom>
          <a:ln w="12700">
            <a:solidFill>
              <a:schemeClr val="accent5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2" name="Shape 122"/>
          <p:cNvSpPr/>
          <p:nvPr/>
        </p:nvSpPr>
        <p:spPr>
          <a:xfrm>
            <a:off x="6857958" y="417070"/>
            <a:ext cx="629627" cy="2426896"/>
          </a:xfrm>
          <a:prstGeom prst="rect">
            <a:avLst/>
          </a:prstGeom>
          <a:ln w="12700">
            <a:solidFill>
              <a:schemeClr val="accent5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3" name="Shape 123"/>
          <p:cNvSpPr/>
          <p:nvPr/>
        </p:nvSpPr>
        <p:spPr>
          <a:xfrm>
            <a:off x="10951752" y="417070"/>
            <a:ext cx="356841" cy="2426896"/>
          </a:xfrm>
          <a:prstGeom prst="rect">
            <a:avLst/>
          </a:prstGeom>
          <a:ln w="12700">
            <a:solidFill>
              <a:schemeClr val="accent5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4" name="Shape 124"/>
          <p:cNvSpPr/>
          <p:nvPr/>
        </p:nvSpPr>
        <p:spPr>
          <a:xfrm>
            <a:off x="4203681" y="3611809"/>
            <a:ext cx="254170" cy="2426896"/>
          </a:xfrm>
          <a:prstGeom prst="rect">
            <a:avLst/>
          </a:prstGeom>
          <a:ln w="12700">
            <a:solidFill>
              <a:schemeClr val="accent5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5" name="Shape 125"/>
          <p:cNvSpPr/>
          <p:nvPr/>
        </p:nvSpPr>
        <p:spPr>
          <a:xfrm>
            <a:off x="8200411" y="3611809"/>
            <a:ext cx="321425" cy="2426896"/>
          </a:xfrm>
          <a:prstGeom prst="rect">
            <a:avLst/>
          </a:prstGeom>
          <a:ln w="12700">
            <a:solidFill>
              <a:schemeClr val="accent5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6" name="Shape 126"/>
          <p:cNvSpPr/>
          <p:nvPr/>
        </p:nvSpPr>
        <p:spPr>
          <a:xfrm>
            <a:off x="1569184" y="6806548"/>
            <a:ext cx="277956" cy="2426896"/>
          </a:xfrm>
          <a:prstGeom prst="rect">
            <a:avLst/>
          </a:prstGeom>
          <a:ln w="12700">
            <a:solidFill>
              <a:schemeClr val="accent5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7" name="Shape 127"/>
          <p:cNvSpPr/>
          <p:nvPr/>
        </p:nvSpPr>
        <p:spPr>
          <a:xfrm>
            <a:off x="7263838" y="6806548"/>
            <a:ext cx="535360" cy="2426896"/>
          </a:xfrm>
          <a:prstGeom prst="rect">
            <a:avLst/>
          </a:prstGeom>
          <a:ln w="12700">
            <a:solidFill>
              <a:schemeClr val="accent5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8" name="Shape 128"/>
          <p:cNvSpPr/>
          <p:nvPr/>
        </p:nvSpPr>
        <p:spPr>
          <a:xfrm>
            <a:off x="9870833" y="6806548"/>
            <a:ext cx="303357" cy="2426896"/>
          </a:xfrm>
          <a:prstGeom prst="rect">
            <a:avLst/>
          </a:prstGeom>
          <a:ln w="12700">
            <a:solidFill>
              <a:schemeClr val="accent5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9" name="Shape 129"/>
          <p:cNvSpPr/>
          <p:nvPr/>
        </p:nvSpPr>
        <p:spPr>
          <a:xfrm>
            <a:off x="11685447" y="6806548"/>
            <a:ext cx="317846" cy="2426896"/>
          </a:xfrm>
          <a:prstGeom prst="rect">
            <a:avLst/>
          </a:prstGeom>
          <a:ln w="12700">
            <a:solidFill>
              <a:schemeClr val="accent5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0" name="Shape 130"/>
          <p:cNvSpPr/>
          <p:nvPr/>
        </p:nvSpPr>
        <p:spPr>
          <a:xfrm>
            <a:off x="4871013" y="1643534"/>
            <a:ext cx="1621154" cy="367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raw FRO signal</a:t>
            </a:r>
          </a:p>
        </p:txBody>
      </p:sp>
      <p:sp>
        <p:nvSpPr>
          <p:cNvPr id="131" name="Shape 131"/>
          <p:cNvSpPr/>
          <p:nvPr/>
        </p:nvSpPr>
        <p:spPr>
          <a:xfrm>
            <a:off x="4689610" y="2438873"/>
            <a:ext cx="1983960" cy="625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16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filtered FRO signal</a:t>
            </a:r>
          </a:p>
          <a:p>
            <a:pPr>
              <a:defRPr sz="16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(7-10 Hz) </a:t>
            </a:r>
          </a:p>
        </p:txBody>
      </p:sp>
      <p:sp>
        <p:nvSpPr>
          <p:cNvPr id="132" name="Shape 132"/>
          <p:cNvSpPr/>
          <p:nvPr/>
        </p:nvSpPr>
        <p:spPr>
          <a:xfrm rot="16200000">
            <a:off x="66229" y="1244624"/>
            <a:ext cx="968827" cy="36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In-phase</a:t>
            </a:r>
          </a:p>
        </p:txBody>
      </p:sp>
      <p:sp>
        <p:nvSpPr>
          <p:cNvPr id="133" name="Shape 133"/>
          <p:cNvSpPr/>
          <p:nvPr/>
        </p:nvSpPr>
        <p:spPr>
          <a:xfrm rot="16200000">
            <a:off x="-157338" y="4396904"/>
            <a:ext cx="1415961" cy="367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Out-of-Phase</a:t>
            </a:r>
          </a:p>
        </p:txBody>
      </p:sp>
      <p:sp>
        <p:nvSpPr>
          <p:cNvPr id="134" name="Shape 134"/>
          <p:cNvSpPr/>
          <p:nvPr/>
        </p:nvSpPr>
        <p:spPr>
          <a:xfrm rot="16200000">
            <a:off x="-223771" y="7518970"/>
            <a:ext cx="1548827" cy="367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No-Stimulation</a:t>
            </a:r>
          </a:p>
        </p:txBody>
      </p:sp>
      <p:sp>
        <p:nvSpPr>
          <p:cNvPr id="135" name="Shape 135"/>
          <p:cNvSpPr/>
          <p:nvPr/>
        </p:nvSpPr>
        <p:spPr>
          <a:xfrm>
            <a:off x="10879323" y="9185643"/>
            <a:ext cx="109463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36" name="Shape 136"/>
          <p:cNvSpPr/>
          <p:nvPr/>
        </p:nvSpPr>
        <p:spPr>
          <a:xfrm>
            <a:off x="11220384" y="9195465"/>
            <a:ext cx="412511" cy="36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2 s</a:t>
            </a:r>
          </a:p>
        </p:txBody>
      </p:sp>
      <p:sp>
        <p:nvSpPr>
          <p:cNvPr id="137" name="Shape 137"/>
          <p:cNvSpPr/>
          <p:nvPr/>
        </p:nvSpPr>
        <p:spPr>
          <a:xfrm rot="5400000">
            <a:off x="12139035" y="7325790"/>
            <a:ext cx="630024" cy="36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5 mV</a:t>
            </a:r>
          </a:p>
        </p:txBody>
      </p:sp>
      <p:sp>
        <p:nvSpPr>
          <p:cNvPr id="138" name="Shape 138"/>
          <p:cNvSpPr/>
          <p:nvPr/>
        </p:nvSpPr>
        <p:spPr>
          <a:xfrm>
            <a:off x="10452544" y="3611809"/>
            <a:ext cx="486525" cy="2426896"/>
          </a:xfrm>
          <a:prstGeom prst="rect">
            <a:avLst/>
          </a:prstGeom>
          <a:ln w="12700">
            <a:solidFill>
              <a:schemeClr val="accent5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9" name="Shape 139"/>
          <p:cNvSpPr/>
          <p:nvPr/>
        </p:nvSpPr>
        <p:spPr>
          <a:xfrm flipV="1">
            <a:off x="12264874" y="7227078"/>
            <a:ext cx="1" cy="56447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