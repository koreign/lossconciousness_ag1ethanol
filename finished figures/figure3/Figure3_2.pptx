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CA1_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55303" y="6925760"/>
            <a:ext cx="2898037" cy="27253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CA1_2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64744" y="6925760"/>
            <a:ext cx="2898037" cy="27253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CA1_1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27423" y="6925986"/>
            <a:ext cx="2898037" cy="2725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FRO_3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52502" y="4293374"/>
            <a:ext cx="2898036" cy="27253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FRO_2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161943" y="4293374"/>
            <a:ext cx="2898036" cy="27253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FRO_1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124622" y="4293600"/>
            <a:ext cx="2898036" cy="2725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boxplot_FCtg_FIg3a3.png"/>
          <p:cNvPicPr>
            <a:picLocks noChangeAspect="1"/>
          </p:cNvPicPr>
          <p:nvPr/>
        </p:nvPicPr>
        <p:blipFill>
          <a:blip r:embed="rId8">
            <a:extLst/>
          </a:blip>
          <a:srcRect l="11280" t="0" r="598" b="0"/>
          <a:stretch>
            <a:fillRect/>
          </a:stretch>
        </p:blipFill>
        <p:spPr>
          <a:xfrm>
            <a:off x="4116390" y="938066"/>
            <a:ext cx="1777035" cy="272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boxplot_FCtg_FIg3c1.png"/>
          <p:cNvPicPr>
            <a:picLocks noChangeAspect="1"/>
          </p:cNvPicPr>
          <p:nvPr/>
        </p:nvPicPr>
        <p:blipFill>
          <a:blip r:embed="rId9">
            <a:extLst/>
          </a:blip>
          <a:srcRect l="6976" t="0" r="6976" b="0"/>
          <a:stretch>
            <a:fillRect/>
          </a:stretch>
        </p:blipFill>
        <p:spPr>
          <a:xfrm>
            <a:off x="9207706" y="938066"/>
            <a:ext cx="1735245" cy="2725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boxplot_FCtg_FIg3a1.png"/>
          <p:cNvPicPr>
            <a:picLocks noChangeAspect="1"/>
          </p:cNvPicPr>
          <p:nvPr/>
        </p:nvPicPr>
        <p:blipFill>
          <a:blip r:embed="rId10">
            <a:extLst/>
          </a:blip>
          <a:srcRect l="5250" t="0" r="5250" b="0"/>
          <a:stretch>
            <a:fillRect/>
          </a:stretch>
        </p:blipFill>
        <p:spPr>
          <a:xfrm>
            <a:off x="2167533" y="938066"/>
            <a:ext cx="1804855" cy="27254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roup 136"/>
          <p:cNvGrpSpPr/>
          <p:nvPr/>
        </p:nvGrpSpPr>
        <p:grpSpPr>
          <a:xfrm>
            <a:off x="3029900" y="3409206"/>
            <a:ext cx="2540310" cy="582158"/>
            <a:chOff x="0" y="0"/>
            <a:chExt cx="2540309" cy="582157"/>
          </a:xfrm>
        </p:grpSpPr>
        <p:sp>
          <p:nvSpPr>
            <p:cNvPr id="128" name="Shape 128"/>
            <p:cNvSpPr/>
            <p:nvPr/>
          </p:nvSpPr>
          <p:spPr>
            <a:xfrm>
              <a:off x="953305" y="82299"/>
              <a:ext cx="325284" cy="136108"/>
            </a:xfrm>
            <a:prstGeom prst="rect">
              <a:avLst/>
            </a:prstGeom>
            <a:solidFill>
              <a:srgbClr val="FFAE6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Shape 129"/>
            <p:cNvSpPr/>
            <p:nvPr/>
          </p:nvSpPr>
          <p:spPr>
            <a:xfrm>
              <a:off x="0" y="82299"/>
              <a:ext cx="325283" cy="136108"/>
            </a:xfrm>
            <a:prstGeom prst="rect">
              <a:avLst/>
            </a:pr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Shape 130"/>
            <p:cNvSpPr/>
            <p:nvPr/>
          </p:nvSpPr>
          <p:spPr>
            <a:xfrm>
              <a:off x="401596" y="0"/>
              <a:ext cx="314327" cy="30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31" name="Shape 131"/>
            <p:cNvSpPr/>
            <p:nvPr/>
          </p:nvSpPr>
          <p:spPr>
            <a:xfrm>
              <a:off x="1367602" y="0"/>
              <a:ext cx="978472" cy="30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132" name="Shape 132"/>
            <p:cNvSpPr/>
            <p:nvPr/>
          </p:nvSpPr>
          <p:spPr>
            <a:xfrm>
              <a:off x="1861" y="356125"/>
              <a:ext cx="325284" cy="136108"/>
            </a:xfrm>
            <a:prstGeom prst="rect">
              <a:avLst/>
            </a:prstGeom>
            <a:solidFill>
              <a:srgbClr val="3FB41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3" name="Shape 133"/>
            <p:cNvSpPr/>
            <p:nvPr/>
          </p:nvSpPr>
          <p:spPr>
            <a:xfrm>
              <a:off x="959513" y="363751"/>
              <a:ext cx="325283" cy="136108"/>
            </a:xfrm>
            <a:prstGeom prst="rect">
              <a:avLst/>
            </a:prstGeom>
            <a:solidFill>
              <a:srgbClr val="67FB9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Shape 134"/>
            <p:cNvSpPr/>
            <p:nvPr/>
          </p:nvSpPr>
          <p:spPr>
            <a:xfrm>
              <a:off x="403457" y="265071"/>
              <a:ext cx="978472" cy="30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35" name="Shape 135"/>
            <p:cNvSpPr/>
            <p:nvPr/>
          </p:nvSpPr>
          <p:spPr>
            <a:xfrm>
              <a:off x="1361109" y="281451"/>
              <a:ext cx="1179201" cy="3007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NoSTIM-OUT</a:t>
              </a:r>
            </a:p>
          </p:txBody>
        </p:sp>
      </p:grpSp>
      <p:sp>
        <p:nvSpPr>
          <p:cNvPr id="137" name="Shape 137"/>
          <p:cNvSpPr/>
          <p:nvPr/>
        </p:nvSpPr>
        <p:spPr>
          <a:xfrm>
            <a:off x="3190421" y="3002967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</a:t>
            </a:r>
          </a:p>
        </p:txBody>
      </p:sp>
      <p:grpSp>
        <p:nvGrpSpPr>
          <p:cNvPr id="141" name="Group 141"/>
          <p:cNvGrpSpPr/>
          <p:nvPr/>
        </p:nvGrpSpPr>
        <p:grpSpPr>
          <a:xfrm>
            <a:off x="2743854" y="1344466"/>
            <a:ext cx="577595" cy="432836"/>
            <a:chOff x="-268613" y="632110"/>
            <a:chExt cx="577594" cy="432834"/>
          </a:xfrm>
        </p:grpSpPr>
        <p:sp>
          <p:nvSpPr>
            <p:cNvPr id="138" name="Shape 138"/>
            <p:cNvSpPr/>
            <p:nvPr/>
          </p:nvSpPr>
          <p:spPr>
            <a:xfrm>
              <a:off x="-268614" y="637997"/>
              <a:ext cx="57759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39" name="Shape 139"/>
            <p:cNvSpPr/>
            <p:nvPr/>
          </p:nvSpPr>
          <p:spPr>
            <a:xfrm flipH="1">
              <a:off x="-263543" y="632110"/>
              <a:ext cx="1" cy="27414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0" name="Shape 140"/>
            <p:cNvSpPr/>
            <p:nvPr/>
          </p:nvSpPr>
          <p:spPr>
            <a:xfrm flipH="1">
              <a:off x="300547" y="635913"/>
              <a:ext cx="1" cy="42903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42" name="Shape 142"/>
          <p:cNvSpPr/>
          <p:nvPr/>
        </p:nvSpPr>
        <p:spPr>
          <a:xfrm>
            <a:off x="2775535" y="1049927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***</a:t>
            </a:r>
          </a:p>
        </p:txBody>
      </p:sp>
      <p:sp>
        <p:nvSpPr>
          <p:cNvPr id="143" name="Shape 143"/>
          <p:cNvSpPr/>
          <p:nvPr/>
        </p:nvSpPr>
        <p:spPr>
          <a:xfrm>
            <a:off x="2637608" y="2951557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***</a:t>
            </a:r>
          </a:p>
        </p:txBody>
      </p:sp>
      <p:sp>
        <p:nvSpPr>
          <p:cNvPr id="144" name="Shape 144"/>
          <p:cNvSpPr/>
          <p:nvPr/>
        </p:nvSpPr>
        <p:spPr>
          <a:xfrm>
            <a:off x="9764016" y="1066633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***</a:t>
            </a:r>
          </a:p>
        </p:txBody>
      </p:sp>
      <p:grpSp>
        <p:nvGrpSpPr>
          <p:cNvPr id="148" name="Group 148"/>
          <p:cNvGrpSpPr/>
          <p:nvPr/>
        </p:nvGrpSpPr>
        <p:grpSpPr>
          <a:xfrm>
            <a:off x="3017002" y="1990439"/>
            <a:ext cx="577595" cy="433407"/>
            <a:chOff x="-268613" y="632110"/>
            <a:chExt cx="577594" cy="433406"/>
          </a:xfrm>
        </p:grpSpPr>
        <p:sp>
          <p:nvSpPr>
            <p:cNvPr id="145" name="Shape 145"/>
            <p:cNvSpPr/>
            <p:nvPr/>
          </p:nvSpPr>
          <p:spPr>
            <a:xfrm>
              <a:off x="-268614" y="637997"/>
              <a:ext cx="57759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6" name="Shape 146"/>
            <p:cNvSpPr/>
            <p:nvPr/>
          </p:nvSpPr>
          <p:spPr>
            <a:xfrm flipH="1">
              <a:off x="-263543" y="632110"/>
              <a:ext cx="1" cy="1347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7" name="Shape 147"/>
            <p:cNvSpPr/>
            <p:nvPr/>
          </p:nvSpPr>
          <p:spPr>
            <a:xfrm flipH="1">
              <a:off x="300547" y="635913"/>
              <a:ext cx="1" cy="42960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49" name="Shape 149"/>
          <p:cNvSpPr/>
          <p:nvPr/>
        </p:nvSpPr>
        <p:spPr>
          <a:xfrm>
            <a:off x="3048683" y="1688932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***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9832481" y="1344954"/>
            <a:ext cx="374530" cy="819615"/>
            <a:chOff x="-268613" y="632110"/>
            <a:chExt cx="374528" cy="819614"/>
          </a:xfrm>
        </p:grpSpPr>
        <p:sp>
          <p:nvSpPr>
            <p:cNvPr id="150" name="Shape 150"/>
            <p:cNvSpPr/>
            <p:nvPr/>
          </p:nvSpPr>
          <p:spPr>
            <a:xfrm>
              <a:off x="-268614" y="637997"/>
              <a:ext cx="37453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51" name="Shape 151"/>
            <p:cNvSpPr/>
            <p:nvPr/>
          </p:nvSpPr>
          <p:spPr>
            <a:xfrm flipH="1">
              <a:off x="-263543" y="632110"/>
              <a:ext cx="1" cy="1347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52" name="Shape 152"/>
            <p:cNvSpPr/>
            <p:nvPr/>
          </p:nvSpPr>
          <p:spPr>
            <a:xfrm flipH="1">
              <a:off x="97347" y="635913"/>
              <a:ext cx="1" cy="8158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54" name="Shape 154"/>
          <p:cNvSpPr/>
          <p:nvPr/>
        </p:nvSpPr>
        <p:spPr>
          <a:xfrm>
            <a:off x="2727663" y="419075"/>
            <a:ext cx="978472" cy="300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55" name="Shape 155"/>
          <p:cNvSpPr/>
          <p:nvPr/>
        </p:nvSpPr>
        <p:spPr>
          <a:xfrm>
            <a:off x="4515758" y="419075"/>
            <a:ext cx="978472" cy="300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CA1</a:t>
            </a:r>
          </a:p>
        </p:txBody>
      </p:sp>
      <p:sp>
        <p:nvSpPr>
          <p:cNvPr id="156" name="Shape 156"/>
          <p:cNvSpPr/>
          <p:nvPr/>
        </p:nvSpPr>
        <p:spPr>
          <a:xfrm>
            <a:off x="7117429" y="419075"/>
            <a:ext cx="978472" cy="300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57" name="Shape 157"/>
          <p:cNvSpPr/>
          <p:nvPr/>
        </p:nvSpPr>
        <p:spPr>
          <a:xfrm>
            <a:off x="9709563" y="419075"/>
            <a:ext cx="978472" cy="300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pic>
        <p:nvPicPr>
          <p:cNvPr id="158" name="boxplot_FCtg_FIg3b1.png"/>
          <p:cNvPicPr>
            <a:picLocks noChangeAspect="1"/>
          </p:cNvPicPr>
          <p:nvPr/>
        </p:nvPicPr>
        <p:blipFill>
          <a:blip r:embed="rId11">
            <a:extLst/>
          </a:blip>
          <a:srcRect l="6976" t="0" r="6976" b="0"/>
          <a:stretch>
            <a:fillRect/>
          </a:stretch>
        </p:blipFill>
        <p:spPr>
          <a:xfrm>
            <a:off x="6635689" y="938066"/>
            <a:ext cx="1735244" cy="272547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hape 159"/>
          <p:cNvSpPr/>
          <p:nvPr/>
        </p:nvSpPr>
        <p:spPr>
          <a:xfrm rot="16200000">
            <a:off x="971017" y="1910748"/>
            <a:ext cx="204776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Spindle incidence</a:t>
            </a:r>
          </a:p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rate (%)</a:t>
            </a:r>
          </a:p>
        </p:txBody>
      </p:sp>
      <p:sp>
        <p:nvSpPr>
          <p:cNvPr id="160" name="Shape 160"/>
          <p:cNvSpPr/>
          <p:nvPr/>
        </p:nvSpPr>
        <p:spPr>
          <a:xfrm rot="16200000">
            <a:off x="5246635" y="1790098"/>
            <a:ext cx="2169629" cy="8255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Overall Slow Oscillation to Spindle ratio (%)</a:t>
            </a:r>
          </a:p>
        </p:txBody>
      </p:sp>
      <p:sp>
        <p:nvSpPr>
          <p:cNvPr id="161" name="Shape 161"/>
          <p:cNvSpPr/>
          <p:nvPr/>
        </p:nvSpPr>
        <p:spPr>
          <a:xfrm rot="16200000">
            <a:off x="7713731" y="1910748"/>
            <a:ext cx="255906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On-line detected SO</a:t>
            </a:r>
          </a:p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coupled with spindles (%)</a:t>
            </a:r>
          </a:p>
        </p:txBody>
      </p:sp>
      <p:sp>
        <p:nvSpPr>
          <p:cNvPr id="162" name="Shape 162"/>
          <p:cNvSpPr/>
          <p:nvPr/>
        </p:nvSpPr>
        <p:spPr>
          <a:xfrm>
            <a:off x="1346718" y="340025"/>
            <a:ext cx="411063" cy="458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3" name="Shape 163"/>
          <p:cNvSpPr/>
          <p:nvPr/>
        </p:nvSpPr>
        <p:spPr>
          <a:xfrm>
            <a:off x="5947382" y="340025"/>
            <a:ext cx="411063" cy="458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4" name="Shape 164"/>
          <p:cNvSpPr/>
          <p:nvPr/>
        </p:nvSpPr>
        <p:spPr>
          <a:xfrm>
            <a:off x="8536697" y="340025"/>
            <a:ext cx="411064" cy="458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</a:t>
            </a:r>
          </a:p>
        </p:txBody>
      </p:sp>
      <p:grpSp>
        <p:nvGrpSpPr>
          <p:cNvPr id="174" name="Group 174"/>
          <p:cNvGrpSpPr/>
          <p:nvPr/>
        </p:nvGrpSpPr>
        <p:grpSpPr>
          <a:xfrm>
            <a:off x="7400435" y="3549932"/>
            <a:ext cx="3433299" cy="300707"/>
            <a:chOff x="0" y="0"/>
            <a:chExt cx="3433298" cy="300705"/>
          </a:xfrm>
        </p:grpSpPr>
        <p:grpSp>
          <p:nvGrpSpPr>
            <p:cNvPr id="167" name="Group 167"/>
            <p:cNvGrpSpPr/>
            <p:nvPr/>
          </p:nvGrpSpPr>
          <p:grpSpPr>
            <a:xfrm>
              <a:off x="1852502" y="0"/>
              <a:ext cx="1580797" cy="300706"/>
              <a:chOff x="0" y="0"/>
              <a:chExt cx="1580795" cy="300705"/>
            </a:xfrm>
          </p:grpSpPr>
          <p:sp>
            <p:nvSpPr>
              <p:cNvPr id="165" name="Shape 165"/>
              <p:cNvSpPr/>
              <p:nvPr/>
            </p:nvSpPr>
            <p:spPr>
              <a:xfrm>
                <a:off x="0" y="82300"/>
                <a:ext cx="325283" cy="13610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6" name="Shape 166"/>
              <p:cNvSpPr/>
              <p:nvPr/>
            </p:nvSpPr>
            <p:spPr>
              <a:xfrm>
                <a:off x="401596" y="0"/>
                <a:ext cx="1179200" cy="3007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l">
                  <a:defRPr sz="1300"/>
                </a:lvl1pPr>
              </a:lstStyle>
              <a:p>
                <a:pPr/>
                <a:r>
                  <a:t>NoSTIM</a:t>
                </a:r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0" y="0"/>
              <a:ext cx="717262" cy="300706"/>
              <a:chOff x="0" y="0"/>
              <a:chExt cx="717261" cy="300705"/>
            </a:xfrm>
          </p:grpSpPr>
          <p:sp>
            <p:nvSpPr>
              <p:cNvPr id="168" name="Shape 168"/>
              <p:cNvSpPr/>
              <p:nvPr/>
            </p:nvSpPr>
            <p:spPr>
              <a:xfrm>
                <a:off x="0" y="82299"/>
                <a:ext cx="325283" cy="136108"/>
              </a:xfrm>
              <a:prstGeom prst="rect">
                <a:avLst/>
              </a:pr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9" name="Shape 169"/>
              <p:cNvSpPr/>
              <p:nvPr/>
            </p:nvSpPr>
            <p:spPr>
              <a:xfrm>
                <a:off x="401595" y="0"/>
                <a:ext cx="315667" cy="3007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l">
                  <a:defRPr sz="1300"/>
                </a:lvl1pPr>
              </a:lstStyle>
              <a:p>
                <a:pPr/>
                <a:r>
                  <a:t>IN</a:t>
                </a:r>
              </a:p>
            </p:txBody>
          </p:sp>
        </p:grpSp>
        <p:grpSp>
          <p:nvGrpSpPr>
            <p:cNvPr id="173" name="Group 173"/>
            <p:cNvGrpSpPr/>
            <p:nvPr/>
          </p:nvGrpSpPr>
          <p:grpSpPr>
            <a:xfrm>
              <a:off x="883484" y="0"/>
              <a:ext cx="885288" cy="300706"/>
              <a:chOff x="0" y="0"/>
              <a:chExt cx="885286" cy="300705"/>
            </a:xfrm>
          </p:grpSpPr>
          <p:sp>
            <p:nvSpPr>
              <p:cNvPr id="171" name="Shape 171"/>
              <p:cNvSpPr/>
              <p:nvPr/>
            </p:nvSpPr>
            <p:spPr>
              <a:xfrm>
                <a:off x="0" y="82299"/>
                <a:ext cx="325283" cy="136108"/>
              </a:xfrm>
              <a:prstGeom prst="rect">
                <a:avLst/>
              </a:prstGeom>
              <a:solidFill>
                <a:srgbClr val="3FB41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" name="Shape 172"/>
              <p:cNvSpPr/>
              <p:nvPr/>
            </p:nvSpPr>
            <p:spPr>
              <a:xfrm>
                <a:off x="405543" y="0"/>
                <a:ext cx="479744" cy="3007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l">
                  <a:defRPr sz="1300"/>
                </a:lvl1pPr>
              </a:lstStyle>
              <a:p>
                <a:pPr/>
                <a:r>
                  <a:t>OUT</a:t>
                </a:r>
              </a:p>
            </p:txBody>
          </p:sp>
        </p:grpSp>
      </p:grpSp>
      <p:grpSp>
        <p:nvGrpSpPr>
          <p:cNvPr id="178" name="Group 178"/>
          <p:cNvGrpSpPr/>
          <p:nvPr/>
        </p:nvGrpSpPr>
        <p:grpSpPr>
          <a:xfrm>
            <a:off x="9838018" y="938066"/>
            <a:ext cx="721563" cy="986582"/>
            <a:chOff x="-268613" y="632110"/>
            <a:chExt cx="721561" cy="986580"/>
          </a:xfrm>
        </p:grpSpPr>
        <p:sp>
          <p:nvSpPr>
            <p:cNvPr id="175" name="Shape 175"/>
            <p:cNvSpPr/>
            <p:nvPr/>
          </p:nvSpPr>
          <p:spPr>
            <a:xfrm>
              <a:off x="-268614" y="637997"/>
              <a:ext cx="71804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76" name="Shape 176"/>
            <p:cNvSpPr/>
            <p:nvPr/>
          </p:nvSpPr>
          <p:spPr>
            <a:xfrm flipH="1">
              <a:off x="-263543" y="632110"/>
              <a:ext cx="1" cy="1347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77" name="Shape 177"/>
            <p:cNvSpPr/>
            <p:nvPr/>
          </p:nvSpPr>
          <p:spPr>
            <a:xfrm flipH="1">
              <a:off x="452947" y="635913"/>
              <a:ext cx="1" cy="98277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79" name="Shape 179"/>
          <p:cNvSpPr/>
          <p:nvPr/>
        </p:nvSpPr>
        <p:spPr>
          <a:xfrm>
            <a:off x="9941683" y="668927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</a:t>
            </a:r>
          </a:p>
        </p:txBody>
      </p:sp>
      <p:grpSp>
        <p:nvGrpSpPr>
          <p:cNvPr id="183" name="Group 183"/>
          <p:cNvGrpSpPr/>
          <p:nvPr/>
        </p:nvGrpSpPr>
        <p:grpSpPr>
          <a:xfrm>
            <a:off x="2742128" y="2302169"/>
            <a:ext cx="305346" cy="648557"/>
            <a:chOff x="0" y="0"/>
            <a:chExt cx="305345" cy="648555"/>
          </a:xfrm>
        </p:grpSpPr>
        <p:sp>
          <p:nvSpPr>
            <p:cNvPr id="180" name="Shape 180"/>
            <p:cNvSpPr/>
            <p:nvPr/>
          </p:nvSpPr>
          <p:spPr>
            <a:xfrm flipH="1">
              <a:off x="-1" y="631578"/>
              <a:ext cx="30519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1" name="Shape 181"/>
            <p:cNvSpPr/>
            <p:nvPr/>
          </p:nvSpPr>
          <p:spPr>
            <a:xfrm flipV="1">
              <a:off x="6029" y="0"/>
              <a:ext cx="1" cy="63010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2" name="Shape 182"/>
            <p:cNvSpPr/>
            <p:nvPr/>
          </p:nvSpPr>
          <p:spPr>
            <a:xfrm flipH="1">
              <a:off x="305345" y="513769"/>
              <a:ext cx="1" cy="13478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3294942" y="2763359"/>
            <a:ext cx="305193" cy="277710"/>
            <a:chOff x="0" y="0"/>
            <a:chExt cx="305192" cy="277709"/>
          </a:xfrm>
        </p:grpSpPr>
        <p:sp>
          <p:nvSpPr>
            <p:cNvPr id="184" name="Shape 184"/>
            <p:cNvSpPr/>
            <p:nvPr/>
          </p:nvSpPr>
          <p:spPr>
            <a:xfrm flipH="1" flipV="1">
              <a:off x="-1" y="263278"/>
              <a:ext cx="30519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5" name="Shape 185"/>
            <p:cNvSpPr/>
            <p:nvPr/>
          </p:nvSpPr>
          <p:spPr>
            <a:xfrm flipV="1">
              <a:off x="6029" y="-1"/>
              <a:ext cx="1" cy="26180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6" name="Shape 186"/>
            <p:cNvSpPr/>
            <p:nvPr/>
          </p:nvSpPr>
          <p:spPr>
            <a:xfrm flipH="1">
              <a:off x="286989" y="142924"/>
              <a:ext cx="1" cy="1347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88" name="Shape 188"/>
          <p:cNvSpPr/>
          <p:nvPr/>
        </p:nvSpPr>
        <p:spPr>
          <a:xfrm>
            <a:off x="1344539" y="4061539"/>
            <a:ext cx="415421" cy="4636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89" name="Shape 189"/>
          <p:cNvSpPr/>
          <p:nvPr/>
        </p:nvSpPr>
        <p:spPr>
          <a:xfrm rot="16200000">
            <a:off x="1057828" y="5178969"/>
            <a:ext cx="988843" cy="30389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90" name="Shape 190"/>
          <p:cNvSpPr/>
          <p:nvPr/>
        </p:nvSpPr>
        <p:spPr>
          <a:xfrm rot="16200000">
            <a:off x="1057828" y="7714463"/>
            <a:ext cx="988843" cy="378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CA1</a:t>
            </a:r>
          </a:p>
        </p:txBody>
      </p:sp>
      <p:sp>
        <p:nvSpPr>
          <p:cNvPr id="191" name="Shape 191"/>
          <p:cNvSpPr/>
          <p:nvPr/>
        </p:nvSpPr>
        <p:spPr>
          <a:xfrm rot="16200000">
            <a:off x="1292795" y="5193432"/>
            <a:ext cx="1404208" cy="5390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400">
                <a:latin typeface="Helvetica"/>
                <a:ea typeface="Helvetica"/>
                <a:cs typeface="Helvetica"/>
                <a:sym typeface="Helvetica"/>
              </a:defRPr>
            </a:pPr>
            <a:r>
              <a:t>Spindle trough</a:t>
            </a:r>
          </a:p>
          <a:p>
            <a:pPr>
              <a:defRPr sz="1400">
                <a:latin typeface="Helvetica"/>
                <a:ea typeface="Helvetica"/>
                <a:cs typeface="Helvetica"/>
                <a:sym typeface="Helvetica"/>
              </a:defRPr>
            </a:pPr>
            <a:r>
              <a:t>density (%)</a:t>
            </a:r>
          </a:p>
        </p:txBody>
      </p:sp>
      <p:sp>
        <p:nvSpPr>
          <p:cNvPr id="192" name="Shape 192"/>
          <p:cNvSpPr/>
          <p:nvPr/>
        </p:nvSpPr>
        <p:spPr>
          <a:xfrm rot="16200000">
            <a:off x="1292795" y="7695087"/>
            <a:ext cx="1404208" cy="5390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400">
                <a:latin typeface="Helvetica"/>
                <a:ea typeface="Helvetica"/>
                <a:cs typeface="Helvetica"/>
                <a:sym typeface="Helvetica"/>
              </a:defRPr>
            </a:pPr>
            <a:r>
              <a:t>Spindle trough</a:t>
            </a:r>
          </a:p>
          <a:p>
            <a:pPr>
              <a:defRPr sz="1400">
                <a:latin typeface="Helvetica"/>
                <a:ea typeface="Helvetica"/>
                <a:cs typeface="Helvetica"/>
                <a:sym typeface="Helvetica"/>
              </a:defRPr>
            </a:pPr>
            <a:r>
              <a:t>density (%)</a:t>
            </a:r>
          </a:p>
        </p:txBody>
      </p:sp>
      <p:sp>
        <p:nvSpPr>
          <p:cNvPr id="193" name="Shape 193"/>
          <p:cNvSpPr/>
          <p:nvPr/>
        </p:nvSpPr>
        <p:spPr>
          <a:xfrm>
            <a:off x="4345515" y="3913416"/>
            <a:ext cx="4799699" cy="4238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Stimulation-Spindle trough event-correlation</a:t>
            </a:r>
          </a:p>
        </p:txBody>
      </p:sp>
      <p:sp>
        <p:nvSpPr>
          <p:cNvPr id="194" name="Shape 194"/>
          <p:cNvSpPr/>
          <p:nvPr/>
        </p:nvSpPr>
        <p:spPr>
          <a:xfrm flipV="1">
            <a:off x="3367072" y="4449260"/>
            <a:ext cx="1" cy="1727919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5" name="Shape 195"/>
          <p:cNvSpPr/>
          <p:nvPr/>
        </p:nvSpPr>
        <p:spPr>
          <a:xfrm flipV="1">
            <a:off x="3367072" y="7039753"/>
            <a:ext cx="1" cy="1727920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6" name="Shape 196"/>
          <p:cNvSpPr/>
          <p:nvPr/>
        </p:nvSpPr>
        <p:spPr>
          <a:xfrm flipV="1">
            <a:off x="6405200" y="4466957"/>
            <a:ext cx="1" cy="1727919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7" name="Shape 197"/>
          <p:cNvSpPr/>
          <p:nvPr/>
        </p:nvSpPr>
        <p:spPr>
          <a:xfrm flipV="1">
            <a:off x="6405200" y="7057451"/>
            <a:ext cx="1" cy="1727919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8" name="Shape 198"/>
          <p:cNvSpPr/>
          <p:nvPr/>
        </p:nvSpPr>
        <p:spPr>
          <a:xfrm flipV="1">
            <a:off x="9494666" y="4460060"/>
            <a:ext cx="1" cy="1727919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9" name="Shape 199"/>
          <p:cNvSpPr/>
          <p:nvPr/>
        </p:nvSpPr>
        <p:spPr>
          <a:xfrm flipV="1">
            <a:off x="9494666" y="7050553"/>
            <a:ext cx="1" cy="1727919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00" name="Shape 200"/>
          <p:cNvSpPr/>
          <p:nvPr/>
        </p:nvSpPr>
        <p:spPr>
          <a:xfrm rot="16200000">
            <a:off x="1792702" y="6233566"/>
            <a:ext cx="315345" cy="30389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1600">
                <a:solidFill>
                  <a:srgbClr val="A6AA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201" name="Shape 201"/>
          <p:cNvSpPr/>
          <p:nvPr/>
        </p:nvSpPr>
        <p:spPr>
          <a:xfrm rot="16200000">
            <a:off x="1792702" y="8853791"/>
            <a:ext cx="315345" cy="30389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1600">
                <a:solidFill>
                  <a:srgbClr val="A6AA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202" name="Shape 202"/>
          <p:cNvSpPr/>
          <p:nvPr/>
        </p:nvSpPr>
        <p:spPr>
          <a:xfrm>
            <a:off x="4696663" y="4327316"/>
            <a:ext cx="320867" cy="34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</a:t>
            </a:r>
          </a:p>
        </p:txBody>
      </p:sp>
      <p:sp>
        <p:nvSpPr>
          <p:cNvPr id="203" name="Shape 203"/>
          <p:cNvSpPr/>
          <p:nvPr/>
        </p:nvSpPr>
        <p:spPr>
          <a:xfrm>
            <a:off x="4468548" y="5289691"/>
            <a:ext cx="548982" cy="346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solidFill>
                  <a:srgbClr val="6DC85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204" name="Shape 204"/>
          <p:cNvSpPr/>
          <p:nvPr/>
        </p:nvSpPr>
        <p:spPr>
          <a:xfrm>
            <a:off x="7752460" y="4327316"/>
            <a:ext cx="320866" cy="34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</a:t>
            </a:r>
          </a:p>
        </p:txBody>
      </p:sp>
      <p:sp>
        <p:nvSpPr>
          <p:cNvPr id="205" name="Shape 205"/>
          <p:cNvSpPr/>
          <p:nvPr/>
        </p:nvSpPr>
        <p:spPr>
          <a:xfrm>
            <a:off x="6919814" y="5289691"/>
            <a:ext cx="1153513" cy="346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NoSTIM-IN</a:t>
            </a:r>
          </a:p>
        </p:txBody>
      </p:sp>
      <p:sp>
        <p:nvSpPr>
          <p:cNvPr id="206" name="Shape 206"/>
          <p:cNvSpPr/>
          <p:nvPr/>
        </p:nvSpPr>
        <p:spPr>
          <a:xfrm>
            <a:off x="10654323" y="4327316"/>
            <a:ext cx="548982" cy="34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solidFill>
                  <a:srgbClr val="6DC85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207" name="Shape 207"/>
          <p:cNvSpPr/>
          <p:nvPr/>
        </p:nvSpPr>
        <p:spPr>
          <a:xfrm>
            <a:off x="9821576" y="5289691"/>
            <a:ext cx="1381627" cy="346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NoSTIM-OUT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